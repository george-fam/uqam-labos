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8"/>
  </p:notesMasterIdLst>
  <p:sldIdLst>
    <p:sldId id="293" r:id="rId5"/>
    <p:sldId id="296" r:id="rId6"/>
    <p:sldId id="29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1" autoAdjust="0"/>
    <p:restoredTop sz="24679" autoAdjust="0"/>
  </p:normalViewPr>
  <p:slideViewPr>
    <p:cSldViewPr snapToGrid="0">
      <p:cViewPr>
        <p:scale>
          <a:sx n="125" d="100"/>
          <a:sy n="125" d="100"/>
        </p:scale>
        <p:origin x="-926" y="-1090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F627ED-A304-4697-8C44-18E45D3D2B1A}" type="doc">
      <dgm:prSet loTypeId="urn:microsoft.com/office/officeart/2005/8/layout/list1" loCatId="list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5E4D699-C3CF-4415-B32C-A18B48AFE2A3}">
      <dgm:prSet/>
      <dgm:spPr/>
      <dgm:t>
        <a:bodyPr/>
        <a:lstStyle/>
        <a:p>
          <a:r>
            <a:rPr lang="fr-FR" dirty="0"/>
            <a:t> Utilisés pour créer une copie profonde d’un objet existant</a:t>
          </a:r>
          <a:endParaRPr lang="en-US" dirty="0"/>
        </a:p>
      </dgm:t>
    </dgm:pt>
    <dgm:pt modelId="{C7C70553-EB1A-4554-849D-8153CC4AFCEB}" type="parTrans" cxnId="{A2DF84EA-DA42-4F03-BD6F-8E8D9966CB10}">
      <dgm:prSet/>
      <dgm:spPr/>
      <dgm:t>
        <a:bodyPr/>
        <a:lstStyle/>
        <a:p>
          <a:endParaRPr lang="en-US"/>
        </a:p>
      </dgm:t>
    </dgm:pt>
    <dgm:pt modelId="{61990FFE-20A5-4112-BACD-16BA28C36EBA}" type="sibTrans" cxnId="{A2DF84EA-DA42-4F03-BD6F-8E8D9966CB10}">
      <dgm:prSet/>
      <dgm:spPr/>
      <dgm:t>
        <a:bodyPr/>
        <a:lstStyle/>
        <a:p>
          <a:endParaRPr lang="en-US"/>
        </a:p>
      </dgm:t>
    </dgm:pt>
    <dgm:pt modelId="{C2F0E5C9-2943-4A9B-872F-ECF6B159E9F4}">
      <dgm:prSet/>
      <dgm:spPr/>
      <dgm:t>
        <a:bodyPr/>
        <a:lstStyle/>
        <a:p>
          <a:r>
            <a:rPr lang="fr-FR" dirty="0"/>
            <a:t>Signature typique</a:t>
          </a:r>
          <a:endParaRPr lang="en-US" dirty="0"/>
        </a:p>
      </dgm:t>
    </dgm:pt>
    <dgm:pt modelId="{8FBB852D-32B7-4273-9DE3-951F1CFE69EC}" type="parTrans" cxnId="{F7608388-5A1F-4FE9-96E5-520EA7B1F725}">
      <dgm:prSet/>
      <dgm:spPr/>
      <dgm:t>
        <a:bodyPr/>
        <a:lstStyle/>
        <a:p>
          <a:endParaRPr lang="en-US"/>
        </a:p>
      </dgm:t>
    </dgm:pt>
    <dgm:pt modelId="{1A62CB6F-38D7-44F2-AFAB-0C4382E3DA24}" type="sibTrans" cxnId="{F7608388-5A1F-4FE9-96E5-520EA7B1F725}">
      <dgm:prSet/>
      <dgm:spPr/>
      <dgm:t>
        <a:bodyPr/>
        <a:lstStyle/>
        <a:p>
          <a:endParaRPr lang="en-US"/>
        </a:p>
      </dgm:t>
    </dgm:pt>
    <dgm:pt modelId="{AEFCBF3C-5B09-4DBD-9370-E6E29401B6F8}">
      <dgm:prSet/>
      <dgm:spPr/>
      <dgm:t>
        <a:bodyPr/>
        <a:lstStyle/>
        <a:p>
          <a:r>
            <a:rPr lang="en-CA" b="0" dirty="0">
              <a:solidFill>
                <a:srgbClr val="0000FF"/>
              </a:solidFill>
              <a:effectLst/>
              <a:latin typeface="Consolas" panose="020B0609020204030204" pitchFamily="49" charset="0"/>
            </a:rPr>
            <a:t>public</a:t>
          </a:r>
          <a:r>
            <a:rPr lang="en-CA" b="0" dirty="0">
              <a:solidFill>
                <a:srgbClr val="3B3B3B"/>
              </a:solidFill>
              <a:effectLst/>
              <a:latin typeface="Consolas" panose="020B0609020204030204" pitchFamily="49" charset="0"/>
            </a:rPr>
            <a:t> </a:t>
          </a:r>
          <a:r>
            <a:rPr lang="en-CA" b="0" dirty="0">
              <a:solidFill>
                <a:srgbClr val="795E26"/>
              </a:solidFill>
              <a:effectLst/>
              <a:latin typeface="Consolas" panose="020B0609020204030204" pitchFamily="49" charset="0"/>
            </a:rPr>
            <a:t>MaClasse</a:t>
          </a:r>
          <a:r>
            <a:rPr lang="en-CA" b="0" dirty="0">
              <a:solidFill>
                <a:srgbClr val="3B3B3B"/>
              </a:solidFill>
              <a:effectLst/>
              <a:latin typeface="Consolas" panose="020B0609020204030204" pitchFamily="49" charset="0"/>
            </a:rPr>
            <a:t>(</a:t>
          </a:r>
          <a:r>
            <a:rPr lang="en-CA" b="0" dirty="0">
              <a:solidFill>
                <a:srgbClr val="267F99"/>
              </a:solidFill>
              <a:effectLst/>
              <a:latin typeface="Consolas" panose="020B0609020204030204" pitchFamily="49" charset="0"/>
            </a:rPr>
            <a:t>MaClasse</a:t>
          </a:r>
          <a:r>
            <a:rPr lang="en-CA" b="0" dirty="0">
              <a:solidFill>
                <a:srgbClr val="3B3B3B"/>
              </a:solidFill>
              <a:effectLst/>
              <a:latin typeface="Consolas" panose="020B0609020204030204" pitchFamily="49" charset="0"/>
            </a:rPr>
            <a:t> </a:t>
          </a:r>
          <a:r>
            <a:rPr lang="en-CA" b="0" dirty="0" err="1">
              <a:solidFill>
                <a:srgbClr val="001080"/>
              </a:solidFill>
              <a:effectLst/>
              <a:latin typeface="Consolas" panose="020B0609020204030204" pitchFamily="49" charset="0"/>
            </a:rPr>
            <a:t>autre</a:t>
          </a:r>
          <a:r>
            <a:rPr lang="en-CA" b="0" dirty="0">
              <a:solidFill>
                <a:srgbClr val="3B3B3B"/>
              </a:solidFill>
              <a:effectLst/>
              <a:latin typeface="Consolas" panose="020B0609020204030204" pitchFamily="49" charset="0"/>
            </a:rPr>
            <a:t>)</a:t>
          </a:r>
          <a:endParaRPr lang="en-US" dirty="0">
            <a:solidFill>
              <a:schemeClr val="tx1"/>
            </a:solidFill>
          </a:endParaRPr>
        </a:p>
      </dgm:t>
    </dgm:pt>
    <dgm:pt modelId="{ECD481D7-4443-44D9-914F-BEDA08F029AC}" type="parTrans" cxnId="{FFC8BEDC-A872-4503-9842-0DA60EF6584C}">
      <dgm:prSet/>
      <dgm:spPr/>
      <dgm:t>
        <a:bodyPr/>
        <a:lstStyle/>
        <a:p>
          <a:endParaRPr lang="en-CA"/>
        </a:p>
      </dgm:t>
    </dgm:pt>
    <dgm:pt modelId="{2B53A5C7-852B-4FFC-8F1E-B9131F364A66}" type="sibTrans" cxnId="{FFC8BEDC-A872-4503-9842-0DA60EF6584C}">
      <dgm:prSet/>
      <dgm:spPr/>
      <dgm:t>
        <a:bodyPr/>
        <a:lstStyle/>
        <a:p>
          <a:endParaRPr lang="en-CA"/>
        </a:p>
      </dgm:t>
    </dgm:pt>
    <dgm:pt modelId="{11EE0CF5-F375-4D2E-AA0E-B16CC7940CB5}">
      <dgm:prSet/>
      <dgm:spPr/>
      <dgm:t>
        <a:bodyPr/>
        <a:lstStyle/>
        <a:p>
          <a:r>
            <a:rPr lang="fr-FR" dirty="0"/>
            <a:t>Ne pas juste copier les références ! Créez de nouveaux objets internes si nécessaire</a:t>
          </a:r>
          <a:endParaRPr lang="en-US" dirty="0"/>
        </a:p>
      </dgm:t>
    </dgm:pt>
    <dgm:pt modelId="{3F550FFD-BC8F-4C4C-A06E-7FEE7DE2537E}" type="parTrans" cxnId="{05F6BCE5-429D-4343-BA58-5FD6CEE369F8}">
      <dgm:prSet/>
      <dgm:spPr/>
      <dgm:t>
        <a:bodyPr/>
        <a:lstStyle/>
        <a:p>
          <a:endParaRPr lang="en-CA"/>
        </a:p>
      </dgm:t>
    </dgm:pt>
    <dgm:pt modelId="{8FB22EB4-EB49-417F-ABA7-8770C3392886}" type="sibTrans" cxnId="{05F6BCE5-429D-4343-BA58-5FD6CEE369F8}">
      <dgm:prSet/>
      <dgm:spPr/>
      <dgm:t>
        <a:bodyPr/>
        <a:lstStyle/>
        <a:p>
          <a:endParaRPr lang="en-CA"/>
        </a:p>
      </dgm:t>
    </dgm:pt>
    <dgm:pt modelId="{949B1BA8-0698-440D-968D-D41952B35F6E}">
      <dgm:prSet/>
      <dgm:spPr/>
      <dgm:t>
        <a:bodyPr/>
        <a:lstStyle/>
        <a:p>
          <a:r>
            <a:rPr lang="en-US" dirty="0"/>
            <a:t>(Si attribut </a:t>
          </a:r>
          <a:r>
            <a:rPr lang="en-US" dirty="0" err="1"/>
            <a:t>est</a:t>
          </a:r>
          <a:r>
            <a:rPr lang="en-US" dirty="0"/>
            <a:t> non-primitive </a:t>
          </a:r>
          <a:r>
            <a:rPr lang="en-US" dirty="0" err="1"/>
            <a:t>sauf</a:t>
          </a:r>
          <a:r>
            <a:rPr lang="en-US" dirty="0"/>
            <a:t> String)</a:t>
          </a:r>
        </a:p>
      </dgm:t>
    </dgm:pt>
    <dgm:pt modelId="{18D6BD90-B5AA-45E1-80D5-8B07FA3F0424}" type="parTrans" cxnId="{2D62BF07-55A9-4DFC-B3B1-A7E48677ED0D}">
      <dgm:prSet/>
      <dgm:spPr/>
      <dgm:t>
        <a:bodyPr/>
        <a:lstStyle/>
        <a:p>
          <a:endParaRPr lang="en-CA"/>
        </a:p>
      </dgm:t>
    </dgm:pt>
    <dgm:pt modelId="{04578510-0121-454D-9BD6-2CCC27A3261A}" type="sibTrans" cxnId="{2D62BF07-55A9-4DFC-B3B1-A7E48677ED0D}">
      <dgm:prSet/>
      <dgm:spPr/>
      <dgm:t>
        <a:bodyPr/>
        <a:lstStyle/>
        <a:p>
          <a:endParaRPr lang="en-CA"/>
        </a:p>
      </dgm:t>
    </dgm:pt>
    <dgm:pt modelId="{B5E1302D-4598-48DB-8B9A-D7DD5F1394BE}" type="pres">
      <dgm:prSet presAssocID="{08F627ED-A304-4697-8C44-18E45D3D2B1A}" presName="linear" presStyleCnt="0">
        <dgm:presLayoutVars>
          <dgm:dir/>
          <dgm:animLvl val="lvl"/>
          <dgm:resizeHandles val="exact"/>
        </dgm:presLayoutVars>
      </dgm:prSet>
      <dgm:spPr/>
    </dgm:pt>
    <dgm:pt modelId="{59ABEF4D-1BCA-4240-8B84-A54682B6E558}" type="pres">
      <dgm:prSet presAssocID="{E5E4D699-C3CF-4415-B32C-A18B48AFE2A3}" presName="parentLin" presStyleCnt="0"/>
      <dgm:spPr/>
    </dgm:pt>
    <dgm:pt modelId="{554DF585-FCA1-4E9D-8E71-BC1C699D5C96}" type="pres">
      <dgm:prSet presAssocID="{E5E4D699-C3CF-4415-B32C-A18B48AFE2A3}" presName="parentLeftMargin" presStyleLbl="node1" presStyleIdx="0" presStyleCnt="2"/>
      <dgm:spPr/>
    </dgm:pt>
    <dgm:pt modelId="{E6B2C72B-95AB-464B-A813-675D0C2CD1DB}" type="pres">
      <dgm:prSet presAssocID="{E5E4D699-C3CF-4415-B32C-A18B48AFE2A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E58CD83-4BBF-4E6C-ABD9-90DB8A91691A}" type="pres">
      <dgm:prSet presAssocID="{E5E4D699-C3CF-4415-B32C-A18B48AFE2A3}" presName="negativeSpace" presStyleCnt="0"/>
      <dgm:spPr/>
    </dgm:pt>
    <dgm:pt modelId="{C65D7F2F-C6A7-4189-93FB-BAE43982D544}" type="pres">
      <dgm:prSet presAssocID="{E5E4D699-C3CF-4415-B32C-A18B48AFE2A3}" presName="childText" presStyleLbl="conFgAcc1" presStyleIdx="0" presStyleCnt="2">
        <dgm:presLayoutVars>
          <dgm:bulletEnabled val="1"/>
        </dgm:presLayoutVars>
      </dgm:prSet>
      <dgm:spPr/>
    </dgm:pt>
    <dgm:pt modelId="{3E383F3B-37D6-469A-B554-6363724C333E}" type="pres">
      <dgm:prSet presAssocID="{61990FFE-20A5-4112-BACD-16BA28C36EBA}" presName="spaceBetweenRectangles" presStyleCnt="0"/>
      <dgm:spPr/>
    </dgm:pt>
    <dgm:pt modelId="{0A5575DE-172E-44E4-A6B2-2A2AF27D73C4}" type="pres">
      <dgm:prSet presAssocID="{C2F0E5C9-2943-4A9B-872F-ECF6B159E9F4}" presName="parentLin" presStyleCnt="0"/>
      <dgm:spPr/>
    </dgm:pt>
    <dgm:pt modelId="{A9D9B11C-A449-4F9C-A408-512D5A6A6177}" type="pres">
      <dgm:prSet presAssocID="{C2F0E5C9-2943-4A9B-872F-ECF6B159E9F4}" presName="parentLeftMargin" presStyleLbl="node1" presStyleIdx="0" presStyleCnt="2"/>
      <dgm:spPr/>
    </dgm:pt>
    <dgm:pt modelId="{C0FC355D-7C86-4140-884F-FE0982E47774}" type="pres">
      <dgm:prSet presAssocID="{C2F0E5C9-2943-4A9B-872F-ECF6B159E9F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C81ACAA-A2C6-430B-B694-EA3E6D0954E3}" type="pres">
      <dgm:prSet presAssocID="{C2F0E5C9-2943-4A9B-872F-ECF6B159E9F4}" presName="negativeSpace" presStyleCnt="0"/>
      <dgm:spPr/>
    </dgm:pt>
    <dgm:pt modelId="{A01917AF-E133-4BE6-BA32-E6C26F24EF6E}" type="pres">
      <dgm:prSet presAssocID="{C2F0E5C9-2943-4A9B-872F-ECF6B159E9F4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2D62BF07-55A9-4DFC-B3B1-A7E48677ED0D}" srcId="{11EE0CF5-F375-4D2E-AA0E-B16CC7940CB5}" destId="{949B1BA8-0698-440D-968D-D41952B35F6E}" srcOrd="0" destOrd="0" parTransId="{18D6BD90-B5AA-45E1-80D5-8B07FA3F0424}" sibTransId="{04578510-0121-454D-9BD6-2CCC27A3261A}"/>
    <dgm:cxn modelId="{8F3CBD33-DD96-4AE4-B178-2B1EC96C1C7B}" type="presOf" srcId="{08F627ED-A304-4697-8C44-18E45D3D2B1A}" destId="{B5E1302D-4598-48DB-8B9A-D7DD5F1394BE}" srcOrd="0" destOrd="0" presId="urn:microsoft.com/office/officeart/2005/8/layout/list1"/>
    <dgm:cxn modelId="{A463C439-C2A7-4822-A1C9-E0C85CAF1BF5}" type="presOf" srcId="{11EE0CF5-F375-4D2E-AA0E-B16CC7940CB5}" destId="{C65D7F2F-C6A7-4189-93FB-BAE43982D544}" srcOrd="0" destOrd="0" presId="urn:microsoft.com/office/officeart/2005/8/layout/list1"/>
    <dgm:cxn modelId="{2F7F195D-0043-4F05-91CD-2F4A8BBAEC78}" type="presOf" srcId="{E5E4D699-C3CF-4415-B32C-A18B48AFE2A3}" destId="{554DF585-FCA1-4E9D-8E71-BC1C699D5C96}" srcOrd="0" destOrd="0" presId="urn:microsoft.com/office/officeart/2005/8/layout/list1"/>
    <dgm:cxn modelId="{31B7B97A-553D-409E-B8C4-FB90064B4727}" type="presOf" srcId="{AEFCBF3C-5B09-4DBD-9370-E6E29401B6F8}" destId="{A01917AF-E133-4BE6-BA32-E6C26F24EF6E}" srcOrd="0" destOrd="0" presId="urn:microsoft.com/office/officeart/2005/8/layout/list1"/>
    <dgm:cxn modelId="{F7608388-5A1F-4FE9-96E5-520EA7B1F725}" srcId="{08F627ED-A304-4697-8C44-18E45D3D2B1A}" destId="{C2F0E5C9-2943-4A9B-872F-ECF6B159E9F4}" srcOrd="1" destOrd="0" parTransId="{8FBB852D-32B7-4273-9DE3-951F1CFE69EC}" sibTransId="{1A62CB6F-38D7-44F2-AFAB-0C4382E3DA24}"/>
    <dgm:cxn modelId="{0EF43E96-DEF1-4BCF-AAEE-83C65C6CAECF}" type="presOf" srcId="{949B1BA8-0698-440D-968D-D41952B35F6E}" destId="{C65D7F2F-C6A7-4189-93FB-BAE43982D544}" srcOrd="0" destOrd="1" presId="urn:microsoft.com/office/officeart/2005/8/layout/list1"/>
    <dgm:cxn modelId="{74A213D2-622D-4686-A60E-B0409F52CF31}" type="presOf" srcId="{C2F0E5C9-2943-4A9B-872F-ECF6B159E9F4}" destId="{A9D9B11C-A449-4F9C-A408-512D5A6A6177}" srcOrd="0" destOrd="0" presId="urn:microsoft.com/office/officeart/2005/8/layout/list1"/>
    <dgm:cxn modelId="{FFC8BEDC-A872-4503-9842-0DA60EF6584C}" srcId="{C2F0E5C9-2943-4A9B-872F-ECF6B159E9F4}" destId="{AEFCBF3C-5B09-4DBD-9370-E6E29401B6F8}" srcOrd="0" destOrd="0" parTransId="{ECD481D7-4443-44D9-914F-BEDA08F029AC}" sibTransId="{2B53A5C7-852B-4FFC-8F1E-B9131F364A66}"/>
    <dgm:cxn modelId="{05F6BCE5-429D-4343-BA58-5FD6CEE369F8}" srcId="{E5E4D699-C3CF-4415-B32C-A18B48AFE2A3}" destId="{11EE0CF5-F375-4D2E-AA0E-B16CC7940CB5}" srcOrd="0" destOrd="0" parTransId="{3F550FFD-BC8F-4C4C-A06E-7FEE7DE2537E}" sibTransId="{8FB22EB4-EB49-417F-ABA7-8770C3392886}"/>
    <dgm:cxn modelId="{9E168CE8-6317-4FF4-A812-C7C149835B4A}" type="presOf" srcId="{C2F0E5C9-2943-4A9B-872F-ECF6B159E9F4}" destId="{C0FC355D-7C86-4140-884F-FE0982E47774}" srcOrd="1" destOrd="0" presId="urn:microsoft.com/office/officeart/2005/8/layout/list1"/>
    <dgm:cxn modelId="{A2DF84EA-DA42-4F03-BD6F-8E8D9966CB10}" srcId="{08F627ED-A304-4697-8C44-18E45D3D2B1A}" destId="{E5E4D699-C3CF-4415-B32C-A18B48AFE2A3}" srcOrd="0" destOrd="0" parTransId="{C7C70553-EB1A-4554-849D-8153CC4AFCEB}" sibTransId="{61990FFE-20A5-4112-BACD-16BA28C36EBA}"/>
    <dgm:cxn modelId="{FBFF0EFF-076F-4413-BD7D-6C5EB14C8960}" type="presOf" srcId="{E5E4D699-C3CF-4415-B32C-A18B48AFE2A3}" destId="{E6B2C72B-95AB-464B-A813-675D0C2CD1DB}" srcOrd="1" destOrd="0" presId="urn:microsoft.com/office/officeart/2005/8/layout/list1"/>
    <dgm:cxn modelId="{9330B48D-9F57-4763-992F-891C55BE24BE}" type="presParOf" srcId="{B5E1302D-4598-48DB-8B9A-D7DD5F1394BE}" destId="{59ABEF4D-1BCA-4240-8B84-A54682B6E558}" srcOrd="0" destOrd="0" presId="urn:microsoft.com/office/officeart/2005/8/layout/list1"/>
    <dgm:cxn modelId="{0880A43C-C626-4BE2-8939-FB63FE6FEB7C}" type="presParOf" srcId="{59ABEF4D-1BCA-4240-8B84-A54682B6E558}" destId="{554DF585-FCA1-4E9D-8E71-BC1C699D5C96}" srcOrd="0" destOrd="0" presId="urn:microsoft.com/office/officeart/2005/8/layout/list1"/>
    <dgm:cxn modelId="{D2B420FE-8762-46C8-975D-9D90C2DB35D4}" type="presParOf" srcId="{59ABEF4D-1BCA-4240-8B84-A54682B6E558}" destId="{E6B2C72B-95AB-464B-A813-675D0C2CD1DB}" srcOrd="1" destOrd="0" presId="urn:microsoft.com/office/officeart/2005/8/layout/list1"/>
    <dgm:cxn modelId="{52904E44-CD5E-4A54-B274-675834F8BBA0}" type="presParOf" srcId="{B5E1302D-4598-48DB-8B9A-D7DD5F1394BE}" destId="{FE58CD83-4BBF-4E6C-ABD9-90DB8A91691A}" srcOrd="1" destOrd="0" presId="urn:microsoft.com/office/officeart/2005/8/layout/list1"/>
    <dgm:cxn modelId="{00D90C25-8293-4B0D-B136-CA23203787D7}" type="presParOf" srcId="{B5E1302D-4598-48DB-8B9A-D7DD5F1394BE}" destId="{C65D7F2F-C6A7-4189-93FB-BAE43982D544}" srcOrd="2" destOrd="0" presId="urn:microsoft.com/office/officeart/2005/8/layout/list1"/>
    <dgm:cxn modelId="{486437BC-2569-4F78-B390-6ACBD4A60878}" type="presParOf" srcId="{B5E1302D-4598-48DB-8B9A-D7DD5F1394BE}" destId="{3E383F3B-37D6-469A-B554-6363724C333E}" srcOrd="3" destOrd="0" presId="urn:microsoft.com/office/officeart/2005/8/layout/list1"/>
    <dgm:cxn modelId="{EFE04576-50A1-4325-8BBD-487FCB916FB8}" type="presParOf" srcId="{B5E1302D-4598-48DB-8B9A-D7DD5F1394BE}" destId="{0A5575DE-172E-44E4-A6B2-2A2AF27D73C4}" srcOrd="4" destOrd="0" presId="urn:microsoft.com/office/officeart/2005/8/layout/list1"/>
    <dgm:cxn modelId="{CB5E6D9C-AAA6-461B-9E61-11B41E4227D5}" type="presParOf" srcId="{0A5575DE-172E-44E4-A6B2-2A2AF27D73C4}" destId="{A9D9B11C-A449-4F9C-A408-512D5A6A6177}" srcOrd="0" destOrd="0" presId="urn:microsoft.com/office/officeart/2005/8/layout/list1"/>
    <dgm:cxn modelId="{9F88991E-E393-4D66-B50E-BA21A1A6F058}" type="presParOf" srcId="{0A5575DE-172E-44E4-A6B2-2A2AF27D73C4}" destId="{C0FC355D-7C86-4140-884F-FE0982E47774}" srcOrd="1" destOrd="0" presId="urn:microsoft.com/office/officeart/2005/8/layout/list1"/>
    <dgm:cxn modelId="{13AD22A1-969F-4AD6-981A-967284EDC168}" type="presParOf" srcId="{B5E1302D-4598-48DB-8B9A-D7DD5F1394BE}" destId="{AC81ACAA-A2C6-430B-B694-EA3E6D0954E3}" srcOrd="5" destOrd="0" presId="urn:microsoft.com/office/officeart/2005/8/layout/list1"/>
    <dgm:cxn modelId="{2F6D6890-7562-4EC5-91C7-43C98911ACC5}" type="presParOf" srcId="{B5E1302D-4598-48DB-8B9A-D7DD5F1394BE}" destId="{A01917AF-E133-4BE6-BA32-E6C26F24EF6E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5D7F2F-C6A7-4189-93FB-BAE43982D544}">
      <dsp:nvSpPr>
        <dsp:cNvPr id="0" name=""/>
        <dsp:cNvSpPr/>
      </dsp:nvSpPr>
      <dsp:spPr>
        <a:xfrm>
          <a:off x="0" y="719243"/>
          <a:ext cx="10058399" cy="1376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395732" rIns="780644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/>
            <a:t>Ne pas juste copier les références ! Créez de nouveaux objets internes si nécessaire</a:t>
          </a:r>
          <a:endParaRPr lang="en-US" sz="1900" kern="1200" dirty="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(Si attribut </a:t>
          </a:r>
          <a:r>
            <a:rPr lang="en-US" sz="1900" kern="1200" dirty="0" err="1"/>
            <a:t>est</a:t>
          </a:r>
          <a:r>
            <a:rPr lang="en-US" sz="1900" kern="1200" dirty="0"/>
            <a:t> non-primitive </a:t>
          </a:r>
          <a:r>
            <a:rPr lang="en-US" sz="1900" kern="1200" dirty="0" err="1"/>
            <a:t>sauf</a:t>
          </a:r>
          <a:r>
            <a:rPr lang="en-US" sz="1900" kern="1200" dirty="0"/>
            <a:t> String)</a:t>
          </a:r>
        </a:p>
      </dsp:txBody>
      <dsp:txXfrm>
        <a:off x="0" y="719243"/>
        <a:ext cx="10058399" cy="1376550"/>
      </dsp:txXfrm>
    </dsp:sp>
    <dsp:sp modelId="{E6B2C72B-95AB-464B-A813-675D0C2CD1DB}">
      <dsp:nvSpPr>
        <dsp:cNvPr id="0" name=""/>
        <dsp:cNvSpPr/>
      </dsp:nvSpPr>
      <dsp:spPr>
        <a:xfrm>
          <a:off x="502920" y="438803"/>
          <a:ext cx="7040880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 Utilisés pour créer une copie profonde d’un objet existant</a:t>
          </a:r>
          <a:endParaRPr lang="en-US" sz="1900" kern="1200" dirty="0"/>
        </a:p>
      </dsp:txBody>
      <dsp:txXfrm>
        <a:off x="530300" y="466183"/>
        <a:ext cx="6986120" cy="506120"/>
      </dsp:txXfrm>
    </dsp:sp>
    <dsp:sp modelId="{A01917AF-E133-4BE6-BA32-E6C26F24EF6E}">
      <dsp:nvSpPr>
        <dsp:cNvPr id="0" name=""/>
        <dsp:cNvSpPr/>
      </dsp:nvSpPr>
      <dsp:spPr>
        <a:xfrm>
          <a:off x="0" y="2478833"/>
          <a:ext cx="10058399" cy="8079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395732" rIns="780644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900" b="0" kern="1200" dirty="0">
              <a:solidFill>
                <a:srgbClr val="0000FF"/>
              </a:solidFill>
              <a:effectLst/>
              <a:latin typeface="Consolas" panose="020B0609020204030204" pitchFamily="49" charset="0"/>
            </a:rPr>
            <a:t>public</a:t>
          </a:r>
          <a:r>
            <a:rPr lang="en-CA" sz="1900" b="0" kern="1200" dirty="0">
              <a:solidFill>
                <a:srgbClr val="3B3B3B"/>
              </a:solidFill>
              <a:effectLst/>
              <a:latin typeface="Consolas" panose="020B0609020204030204" pitchFamily="49" charset="0"/>
            </a:rPr>
            <a:t> </a:t>
          </a:r>
          <a:r>
            <a:rPr lang="en-CA" sz="1900" b="0" kern="1200" dirty="0">
              <a:solidFill>
                <a:srgbClr val="795E26"/>
              </a:solidFill>
              <a:effectLst/>
              <a:latin typeface="Consolas" panose="020B0609020204030204" pitchFamily="49" charset="0"/>
            </a:rPr>
            <a:t>MaClasse</a:t>
          </a:r>
          <a:r>
            <a:rPr lang="en-CA" sz="1900" b="0" kern="1200" dirty="0">
              <a:solidFill>
                <a:srgbClr val="3B3B3B"/>
              </a:solidFill>
              <a:effectLst/>
              <a:latin typeface="Consolas" panose="020B0609020204030204" pitchFamily="49" charset="0"/>
            </a:rPr>
            <a:t>(</a:t>
          </a:r>
          <a:r>
            <a:rPr lang="en-CA" sz="1900" b="0" kern="1200" dirty="0">
              <a:solidFill>
                <a:srgbClr val="267F99"/>
              </a:solidFill>
              <a:effectLst/>
              <a:latin typeface="Consolas" panose="020B0609020204030204" pitchFamily="49" charset="0"/>
            </a:rPr>
            <a:t>MaClasse</a:t>
          </a:r>
          <a:r>
            <a:rPr lang="en-CA" sz="1900" b="0" kern="1200" dirty="0">
              <a:solidFill>
                <a:srgbClr val="3B3B3B"/>
              </a:solidFill>
              <a:effectLst/>
              <a:latin typeface="Consolas" panose="020B0609020204030204" pitchFamily="49" charset="0"/>
            </a:rPr>
            <a:t> </a:t>
          </a:r>
          <a:r>
            <a:rPr lang="en-CA" sz="1900" b="0" kern="1200" dirty="0" err="1">
              <a:solidFill>
                <a:srgbClr val="001080"/>
              </a:solidFill>
              <a:effectLst/>
              <a:latin typeface="Consolas" panose="020B0609020204030204" pitchFamily="49" charset="0"/>
            </a:rPr>
            <a:t>autre</a:t>
          </a:r>
          <a:r>
            <a:rPr lang="en-CA" sz="1900" b="0" kern="1200" dirty="0">
              <a:solidFill>
                <a:srgbClr val="3B3B3B"/>
              </a:solidFill>
              <a:effectLst/>
              <a:latin typeface="Consolas" panose="020B0609020204030204" pitchFamily="49" charset="0"/>
            </a:rPr>
            <a:t>)</a:t>
          </a:r>
          <a:endParaRPr lang="en-US" sz="1900" kern="1200" dirty="0">
            <a:solidFill>
              <a:schemeClr val="tx1"/>
            </a:solidFill>
          </a:endParaRPr>
        </a:p>
      </dsp:txBody>
      <dsp:txXfrm>
        <a:off x="0" y="2478833"/>
        <a:ext cx="10058399" cy="807975"/>
      </dsp:txXfrm>
    </dsp:sp>
    <dsp:sp modelId="{C0FC355D-7C86-4140-884F-FE0982E47774}">
      <dsp:nvSpPr>
        <dsp:cNvPr id="0" name=""/>
        <dsp:cNvSpPr/>
      </dsp:nvSpPr>
      <dsp:spPr>
        <a:xfrm>
          <a:off x="502920" y="2198393"/>
          <a:ext cx="7040880" cy="5608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Signature typique</a:t>
          </a:r>
          <a:endParaRPr lang="en-US" sz="1900" kern="1200" dirty="0"/>
        </a:p>
      </dsp:txBody>
      <dsp:txXfrm>
        <a:off x="530300" y="2225773"/>
        <a:ext cx="6986120" cy="506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75A533-9D7B-4A31-B572-40B92C409D15}" type="datetimeFigureOut">
              <a:rPr lang="en-CA" smtClean="0"/>
              <a:t>2025-05-15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060D83-0CAC-4FD5-9D48-91FFA8599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5731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fr-FR" b="1" dirty="0"/>
              <a:t>Signature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Pour que Java choisisse le bon constructeur, il regarde le </a:t>
            </a:r>
            <a:r>
              <a:rPr lang="fr-FR" b="1" dirty="0"/>
              <a:t>type</a:t>
            </a:r>
            <a:r>
              <a:rPr lang="fr-FR" dirty="0"/>
              <a:t>, l’</a:t>
            </a:r>
            <a:r>
              <a:rPr lang="fr-FR" b="1" dirty="0"/>
              <a:t>ordre</a:t>
            </a:r>
            <a:r>
              <a:rPr lang="fr-FR" dirty="0"/>
              <a:t>, et le </a:t>
            </a:r>
            <a:r>
              <a:rPr lang="fr-FR" b="1" dirty="0"/>
              <a:t>nombre</a:t>
            </a:r>
            <a:r>
              <a:rPr lang="fr-FR" dirty="0"/>
              <a:t> de paramètres.</a:t>
            </a:r>
            <a:br>
              <a:rPr lang="fr-FR" dirty="0"/>
            </a:br>
            <a:r>
              <a:rPr lang="fr-FR" dirty="0"/>
              <a:t>Par exemple, Item(String, double) ≠ Item(double, String).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fr-FR" b="1" dirty="0"/>
              <a:t>2 façons d’initialiser les attributs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b="1" dirty="0"/>
              <a:t>Option 1 </a:t>
            </a:r>
            <a:r>
              <a:rPr lang="fr-FR" b="0" dirty="0"/>
              <a:t>: Setters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b="1" dirty="0"/>
              <a:t>Option 2</a:t>
            </a:r>
            <a:r>
              <a:rPr lang="fr-FR" dirty="0"/>
              <a:t>: Directement dans constructeur avec </a:t>
            </a:r>
            <a:r>
              <a:rPr lang="fr-FR" dirty="0" err="1"/>
              <a:t>mot-cl</a:t>
            </a:r>
            <a:r>
              <a:rPr lang="fr-CA" dirty="0"/>
              <a:t>é </a:t>
            </a:r>
            <a:r>
              <a:rPr lang="fr-CA" dirty="0" err="1"/>
              <a:t>this</a:t>
            </a:r>
            <a:endParaRPr lang="fr-F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b="1" dirty="0"/>
              <a:t>Mais on NE recommande pas les setters dans les constructeurs</a:t>
            </a:r>
            <a:r>
              <a:rPr lang="fr-FR" dirty="0"/>
              <a:t> pour deux raisons :</a:t>
            </a:r>
          </a:p>
          <a:p>
            <a:pPr lvl="1">
              <a:buFont typeface="+mj-lt"/>
              <a:buAutoNum type="arabicPeriod"/>
            </a:pPr>
            <a:r>
              <a:rPr lang="fr-FR" b="1" dirty="0"/>
              <a:t> Pédagogique:</a:t>
            </a:r>
            <a:r>
              <a:rPr lang="fr-FR" dirty="0"/>
              <a:t> on veut pratiquer l'affectation directe avec </a:t>
            </a:r>
            <a:r>
              <a:rPr lang="fr-FR" dirty="0" err="1"/>
              <a:t>this.attribut</a:t>
            </a:r>
            <a:r>
              <a:rPr lang="fr-FR" dirty="0"/>
              <a:t> = ... dans le cours.</a:t>
            </a:r>
          </a:p>
          <a:p>
            <a:pPr lvl="1">
              <a:buFont typeface="+mj-lt"/>
              <a:buAutoNum type="arabicPeriod"/>
            </a:pPr>
            <a:r>
              <a:rPr lang="fr-FR" b="1" dirty="0"/>
              <a:t> Bonnes pratiques Java</a:t>
            </a:r>
            <a:r>
              <a:rPr lang="fr-FR" dirty="0"/>
              <a:t>: (JUSTE POUR INFO) les setters peuvent faire appelle à d’autres méthodes publiques qui ne prennent pas en compte que l’objet n’a pas complété son initialisation.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dirty="0"/>
              <a:t>Cela peut créer des bugs pour la classe courante et ses classes enfants qui peuvent </a:t>
            </a:r>
            <a:r>
              <a:rPr lang="fr-FR" dirty="0" err="1"/>
              <a:t>override</a:t>
            </a:r>
            <a:r>
              <a:rPr lang="fr-FR" dirty="0"/>
              <a:t> ces méthodes avec du logique qui assume que l’objet est déjà construit avant l’appel.</a:t>
            </a:r>
            <a:br>
              <a:rPr lang="fr-FR" dirty="0"/>
            </a:br>
            <a:r>
              <a:rPr lang="fr-FR" dirty="0"/>
              <a:t>Ex: </a:t>
            </a:r>
            <a:r>
              <a:rPr lang="fr-FR" dirty="0" err="1"/>
              <a:t>setPrixTotale</a:t>
            </a:r>
            <a:r>
              <a:rPr lang="fr-FR" dirty="0"/>
              <a:t>(prix)</a:t>
            </a:r>
            <a:r>
              <a:rPr lang="en-CA" dirty="0"/>
              <a:t>{ </a:t>
            </a:r>
            <a:r>
              <a:rPr lang="en-CA" dirty="0" err="1"/>
              <a:t>prixTotale</a:t>
            </a:r>
            <a:r>
              <a:rPr lang="en-CA" dirty="0"/>
              <a:t> =   }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dirty="0"/>
              <a:t>Donc, dans vos constructeurs : utilisez </a:t>
            </a:r>
            <a:r>
              <a:rPr lang="fr-FR" dirty="0" err="1"/>
              <a:t>this.attribut</a:t>
            </a:r>
            <a:r>
              <a:rPr lang="fr-FR" dirty="0"/>
              <a:t> = attribut; 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dirty="0"/>
              <a:t>Existe autres raisons qu’on va pas voir.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fr-F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fr-FR" b="1" dirty="0"/>
              <a:t>Réutiliser les constructeurs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super(...) sert à appeler le constructeur de la </a:t>
            </a:r>
            <a:r>
              <a:rPr lang="fr-FR" b="1" dirty="0"/>
              <a:t>classe parente</a:t>
            </a:r>
            <a:endParaRPr lang="fr-F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 err="1"/>
              <a:t>this</a:t>
            </a:r>
            <a:r>
              <a:rPr lang="fr-FR" dirty="0"/>
              <a:t>(...) permet de réutiliser </a:t>
            </a:r>
            <a:r>
              <a:rPr lang="fr-FR" b="1" dirty="0"/>
              <a:t>un autre constructeur</a:t>
            </a:r>
            <a:r>
              <a:rPr lang="fr-FR" dirty="0"/>
              <a:t> de la </a:t>
            </a:r>
            <a:r>
              <a:rPr lang="fr-FR" b="1" dirty="0"/>
              <a:t>même classe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dirty="0"/>
              <a:t>C’est utile pour éviter de répéter le même code d’initialisation.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fr-FR" dirty="0"/>
          </a:p>
          <a:p>
            <a:r>
              <a:rPr lang="fr-FR" b="1" dirty="0"/>
              <a:t>Clean Code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b="1" dirty="0"/>
              <a:t>Extraire des méthodes privées</a:t>
            </a:r>
            <a:r>
              <a:rPr lang="fr-FR" dirty="0"/>
              <a:t> quand il y a de la répétition (ex: validation ou initialisation commune à plusieurs constructeurs).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dirty="0"/>
              <a:t>Objectif : garder les constructeurs courts, lisibles et clairs.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60D83-0CAC-4FD5-9D48-91FFA8599DAE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4385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Un </a:t>
            </a:r>
            <a:r>
              <a:rPr lang="fr-FR" b="1" dirty="0"/>
              <a:t>constructeur de copie</a:t>
            </a:r>
            <a:r>
              <a:rPr lang="fr-FR" dirty="0"/>
              <a:t> sert à créer une </a:t>
            </a:r>
            <a:r>
              <a:rPr lang="fr-FR" b="1" dirty="0"/>
              <a:t>copie indépendante</a:t>
            </a:r>
            <a:r>
              <a:rPr lang="fr-FR" dirty="0"/>
              <a:t> d’un objet existant.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dirty="0"/>
              <a:t>On parle ici de </a:t>
            </a:r>
            <a:r>
              <a:rPr lang="fr-FR" b="1" dirty="0"/>
              <a:t>copie profonde (</a:t>
            </a:r>
            <a:r>
              <a:rPr lang="fr-FR" b="1" dirty="0" err="1"/>
              <a:t>deep</a:t>
            </a:r>
            <a:r>
              <a:rPr lang="fr-FR" b="1" dirty="0"/>
              <a:t> copy)</a:t>
            </a:r>
            <a:r>
              <a:rPr lang="fr-FR" dirty="0"/>
              <a:t>, pas juste de copier les valeurs en surface.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fr-FR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dirty="0"/>
              <a:t>Si un objet a des </a:t>
            </a:r>
            <a:r>
              <a:rPr lang="fr-FR" b="1" dirty="0"/>
              <a:t>attributs non-primitifs</a:t>
            </a:r>
            <a:r>
              <a:rPr lang="fr-FR" dirty="0"/>
              <a:t> (comme un autre objet ou une liste), copier simplement la </a:t>
            </a:r>
            <a:r>
              <a:rPr lang="fr-FR" b="1" dirty="0"/>
              <a:t>référence</a:t>
            </a:r>
            <a:r>
              <a:rPr lang="fr-FR" dirty="0"/>
              <a:t> ne suffit pas. Sinon, les deux objets partagent le </a:t>
            </a:r>
            <a:r>
              <a:rPr lang="fr-FR" b="1" dirty="0"/>
              <a:t>même objet interne</a:t>
            </a:r>
            <a:r>
              <a:rPr lang="fr-FR" dirty="0"/>
              <a:t>, ce qui peut provoquer des effets de bord </a:t>
            </a:r>
            <a:r>
              <a:rPr lang="fr-FR" b="1" dirty="0"/>
              <a:t>involontaires</a:t>
            </a:r>
            <a:r>
              <a:rPr lang="fr-FR" dirty="0"/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Example avec </a:t>
            </a:r>
            <a:r>
              <a:rPr lang="en-CA" dirty="0" err="1"/>
              <a:t>CartesianMap</a:t>
            </a:r>
            <a:r>
              <a:rPr lang="en-CA" dirty="0"/>
              <a:t> et Point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Mauvais vs Bon: </a:t>
            </a:r>
            <a:r>
              <a:rPr lang="en-US" dirty="0"/>
              <a:t>https://i.ibb.co/RTWnqbsL/Screenshot-2025-05-15-110832.png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60D83-0CAC-4FD5-9D48-91FFA8599DAE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790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5/15/2025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344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5/15/2025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400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5/15/2025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960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5/15/2025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8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5/15/2025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686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5/15/2025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967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5/15/2025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824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5/15/2025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863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5/15/2025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91304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5/15/2025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008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5/15/2025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999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5/15/2025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215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F73848-91FE-4D29-B0DC-BFC408416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839"/>
            <a:ext cx="12191980" cy="6858000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INF2120 Lab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George Fam</a:t>
            </a:r>
          </a:p>
        </p:txBody>
      </p:sp>
    </p:spTree>
    <p:extLst>
      <p:ext uri="{BB962C8B-B14F-4D97-AF65-F5344CB8AC3E}">
        <p14:creationId xmlns:p14="http://schemas.microsoft.com/office/powerpoint/2010/main" val="42696815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0120F84-A866-4D9F-8B1C-9120A013D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52FEFEF-6AC0-46B6-AC09-11FC56196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0312" y="226665"/>
            <a:ext cx="11722608" cy="638251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614460-D653-8CAC-22A1-80F7EB0A3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512" y="870132"/>
            <a:ext cx="9792208" cy="1527078"/>
          </a:xfrm>
        </p:spPr>
        <p:txBody>
          <a:bodyPr>
            <a:normAutofit/>
          </a:bodyPr>
          <a:lstStyle/>
          <a:p>
            <a:r>
              <a:rPr lang="en-CA"/>
              <a:t>Constructeurs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4E4C4-2FDD-D00F-CB2E-39A13858E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5512" y="2557849"/>
            <a:ext cx="9792208" cy="3407862"/>
          </a:xfrm>
        </p:spPr>
        <p:txBody>
          <a:bodyPr>
            <a:normAutofit/>
          </a:bodyPr>
          <a:lstStyle/>
          <a:p>
            <a:r>
              <a:rPr lang="en-CA" b="1" dirty="0"/>
              <a:t>Signature: </a:t>
            </a:r>
            <a:r>
              <a:rPr lang="fr-FR" dirty="0"/>
              <a:t>le type, l’ordre, et le nombre de paramètres</a:t>
            </a:r>
            <a:endParaRPr lang="en-CA" dirty="0"/>
          </a:p>
          <a:p>
            <a:r>
              <a:rPr lang="en-CA" b="1" dirty="0"/>
              <a:t>2 </a:t>
            </a:r>
            <a:r>
              <a:rPr lang="en-CA" b="1" dirty="0" err="1"/>
              <a:t>méthodes</a:t>
            </a:r>
            <a:r>
              <a:rPr lang="en-CA" b="1" dirty="0"/>
              <a:t> pour initialiser </a:t>
            </a:r>
            <a:r>
              <a:rPr lang="en-CA" b="1" dirty="0" err="1"/>
              <a:t>attributs</a:t>
            </a:r>
            <a:r>
              <a:rPr lang="en-CA" b="1" dirty="0"/>
              <a:t>: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CA" dirty="0"/>
              <a:t>Setters (avec validation </a:t>
            </a:r>
            <a:r>
              <a:rPr lang="en-CA" dirty="0" err="1"/>
              <a:t>si</a:t>
            </a:r>
            <a:r>
              <a:rPr lang="en-CA" dirty="0"/>
              <a:t> </a:t>
            </a:r>
            <a:r>
              <a:rPr lang="en-CA" dirty="0" err="1"/>
              <a:t>nécessaire</a:t>
            </a:r>
            <a:r>
              <a:rPr lang="en-CA" dirty="0"/>
              <a:t>)</a:t>
            </a:r>
          </a:p>
          <a:p>
            <a:pPr marL="617220" lvl="1" indent="-342900">
              <a:buFont typeface="+mj-lt"/>
              <a:buAutoNum type="arabicPeriod"/>
            </a:pPr>
            <a:r>
              <a:rPr lang="fr-FR" b="1" dirty="0"/>
              <a:t>⭐ Directement dans le constructeur (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CA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CA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attribut</a:t>
            </a:r>
            <a:r>
              <a:rPr lang="en-CA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CA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attribut</a:t>
            </a:r>
            <a:r>
              <a:rPr lang="fr-FR" b="1" dirty="0"/>
              <a:t>)</a:t>
            </a:r>
            <a:r>
              <a:rPr lang="en-CA" b="1" dirty="0"/>
              <a:t> </a:t>
            </a:r>
          </a:p>
          <a:p>
            <a:r>
              <a:rPr lang="en-CA" b="1" dirty="0" err="1"/>
              <a:t>Réutilisez</a:t>
            </a:r>
            <a:r>
              <a:rPr lang="en-CA" b="1" dirty="0"/>
              <a:t> les </a:t>
            </a:r>
            <a:r>
              <a:rPr lang="en-CA" b="1" dirty="0" err="1"/>
              <a:t>constructeurs</a:t>
            </a:r>
            <a:endParaRPr lang="en-CA" b="1" dirty="0"/>
          </a:p>
          <a:p>
            <a:pPr lvl="1"/>
            <a:r>
              <a:rPr lang="en-CA" b="0" dirty="0">
                <a:effectLst/>
                <a:latin typeface="Consolas" panose="020B0609020204030204" pitchFamily="49" charset="0"/>
              </a:rPr>
              <a:t>super(params) </a:t>
            </a:r>
            <a:r>
              <a:rPr lang="fr-FR" dirty="0"/>
              <a:t>pour appeler le constructeur parent</a:t>
            </a:r>
          </a:p>
          <a:p>
            <a:pPr lvl="1"/>
            <a:r>
              <a:rPr lang="en-CA" b="0" dirty="0">
                <a:effectLst/>
                <a:latin typeface="Consolas" panose="020B0609020204030204" pitchFamily="49" charset="0"/>
              </a:rPr>
              <a:t>this(params)  </a:t>
            </a:r>
            <a:r>
              <a:rPr lang="fr-FR" dirty="0"/>
              <a:t>pour réutiliser un autre constructeur de la même classe</a:t>
            </a:r>
          </a:p>
          <a:p>
            <a:r>
              <a:rPr lang="en-CA" dirty="0"/>
              <a:t>🧹</a:t>
            </a:r>
            <a:r>
              <a:rPr lang="en-CA" b="1" dirty="0"/>
              <a:t>Clean Code: </a:t>
            </a:r>
          </a:p>
          <a:p>
            <a:pPr lvl="1"/>
            <a:r>
              <a:rPr lang="fr-FR" dirty="0"/>
              <a:t>Créez des </a:t>
            </a:r>
            <a:r>
              <a:rPr lang="fr-FR" b="1" dirty="0"/>
              <a:t>méthodes privées auxiliaires</a:t>
            </a:r>
            <a:r>
              <a:rPr lang="fr-FR" dirty="0"/>
              <a:t> pour éviter la duplication et réduire la complexité (surtout si vous avez plusieurs constructeurs ou validations similaires)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00936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516F58-C319-E2B2-4C1F-86BF6CED1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49BFB0E-BAAB-D187-336E-2755FEC1F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B3AB8C5-6E97-D087-2037-A4685760B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0312" y="226665"/>
            <a:ext cx="11722608" cy="638251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2DE70-E188-D54D-9800-703E44D5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512" y="870132"/>
            <a:ext cx="9792208" cy="1527078"/>
          </a:xfrm>
        </p:spPr>
        <p:txBody>
          <a:bodyPr>
            <a:normAutofit/>
          </a:bodyPr>
          <a:lstStyle/>
          <a:p>
            <a:r>
              <a:rPr lang="en-CA" dirty="0" err="1"/>
              <a:t>Constructeur</a:t>
            </a:r>
            <a:r>
              <a:rPr lang="en-CA" dirty="0"/>
              <a:t> de </a:t>
            </a:r>
            <a:r>
              <a:rPr lang="en-CA" dirty="0" err="1"/>
              <a:t>copie</a:t>
            </a:r>
            <a:endParaRPr lang="en-CA" dirty="0"/>
          </a:p>
        </p:txBody>
      </p:sp>
      <p:graphicFrame>
        <p:nvGraphicFramePr>
          <p:cNvPr id="6" name="Content Placeholder 2" descr="SmartArt timeline">
            <a:extLst>
              <a:ext uri="{FF2B5EF4-FFF2-40B4-BE49-F238E27FC236}">
                <a16:creationId xmlns:a16="http://schemas.microsoft.com/office/drawing/2014/main" id="{B517AFC7-4FD1-D5C6-3EE7-F7383E6FF1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6912188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082087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75FBC4-9D33-46BE-911D-419763BA9AF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294F055B-D391-44D3-A87A-BCD07BD5A3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DBD101-FC0A-4B21-82B0-57CAA7AEEC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{9A904AC9-2937-4E51-BBE0-1A68C8F58A65}tf56219246_win32</Template>
  <TotalTime>556</TotalTime>
  <Words>500</Words>
  <Application>Microsoft Office PowerPoint</Application>
  <PresentationFormat>Widescreen</PresentationFormat>
  <Paragraphs>47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Arial</vt:lpstr>
      <vt:lpstr>Avenir Next LT Pro</vt:lpstr>
      <vt:lpstr>Avenir Next LT Pro Light</vt:lpstr>
      <vt:lpstr>Consolas</vt:lpstr>
      <vt:lpstr>Garamond</vt:lpstr>
      <vt:lpstr>SavonVTI</vt:lpstr>
      <vt:lpstr>INF2120 Lab 3</vt:lpstr>
      <vt:lpstr>Constructeurs</vt:lpstr>
      <vt:lpstr>Constructeur de copie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Fam</dc:creator>
  <cp:lastModifiedBy>George Fam</cp:lastModifiedBy>
  <cp:revision>2</cp:revision>
  <dcterms:created xsi:type="dcterms:W3CDTF">2025-05-15T06:10:43Z</dcterms:created>
  <dcterms:modified xsi:type="dcterms:W3CDTF">2025-05-15T15:27:23Z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