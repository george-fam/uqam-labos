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1" autoAdjust="0"/>
    <p:restoredTop sz="71795" autoAdjust="0"/>
  </p:normalViewPr>
  <p:slideViewPr>
    <p:cSldViewPr snapToGrid="0">
      <p:cViewPr varScale="1">
        <p:scale>
          <a:sx n="87" d="100"/>
          <a:sy n="87" d="100"/>
        </p:scale>
        <p:origin x="112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0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54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8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54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39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75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8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7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5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70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6" name="Picture 15" descr="A circular pattern with dots and lines&#10;&#10;AI-generated content may be incorrect.">
            <a:extLst>
              <a:ext uri="{FF2B5EF4-FFF2-40B4-BE49-F238E27FC236}">
                <a16:creationId xmlns:a16="http://schemas.microsoft.com/office/drawing/2014/main" id="{DC613739-DCB8-574A-B330-337B30EAC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705856"/>
            <a:ext cx="12192001" cy="115214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A346F-89BF-0B39-EA1D-099947F22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5" y="5863030"/>
            <a:ext cx="7955280" cy="870008"/>
          </a:xfrm>
        </p:spPr>
        <p:txBody>
          <a:bodyPr anchor="ctr">
            <a:normAutofit/>
          </a:bodyPr>
          <a:lstStyle/>
          <a:p>
            <a:r>
              <a:rPr lang="fr-CA" sz="4800" noProof="0" dirty="0"/>
              <a:t>INF1070 Lab9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1EDA07-99C0-BCEC-8702-7F2CC31AA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8323" y="5863030"/>
            <a:ext cx="3527062" cy="870008"/>
          </a:xfrm>
        </p:spPr>
        <p:txBody>
          <a:bodyPr anchor="ctr">
            <a:normAutofit/>
          </a:bodyPr>
          <a:lstStyle/>
          <a:p>
            <a:pPr algn="r"/>
            <a:r>
              <a:rPr lang="fr-CA" sz="1600" noProof="0" dirty="0"/>
              <a:t>George Fam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A0A4642-D29D-0121-4C05-5A5559BC5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8323" y="6281928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855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34634-71E9-9E08-7F9D-E215F054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fr-CA" noProof="0"/>
              <a:t>SSH</a:t>
            </a:r>
            <a:endParaRPr lang="fr-CA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86CC2-B9C8-7063-6655-D1DD16268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lang="fr-CA" noProof="0" dirty="0"/>
              <a:t>★ </a:t>
            </a:r>
            <a:r>
              <a:rPr lang="fr-CA" b="1" noProof="0" dirty="0"/>
              <a:t>Protocole</a:t>
            </a:r>
            <a:r>
              <a:rPr lang="fr-CA" noProof="0" dirty="0"/>
              <a:t> pour </a:t>
            </a:r>
            <a:r>
              <a:rPr lang="fr-CA" b="1" noProof="0" dirty="0"/>
              <a:t>connexion sécure </a:t>
            </a:r>
            <a:r>
              <a:rPr lang="fr-CA" noProof="0" dirty="0"/>
              <a:t>(crypté/chiffré) entre ordinateurs </a:t>
            </a:r>
          </a:p>
          <a:p>
            <a:r>
              <a:rPr lang="fr-CA" noProof="0" dirty="0"/>
              <a:t>★ </a:t>
            </a:r>
            <a:r>
              <a:rPr lang="fr-CA" dirty="0"/>
              <a:t>Supporte </a:t>
            </a:r>
            <a:r>
              <a:rPr lang="fr-CA" b="1" dirty="0"/>
              <a:t>authentification par clé publique</a:t>
            </a:r>
            <a:endParaRPr lang="fr-CA" b="1" noProof="0" dirty="0"/>
          </a:p>
          <a:p>
            <a:r>
              <a:rPr lang="fr-CA" noProof="0" dirty="0"/>
              <a:t>Normalement utilisé sur terminal</a:t>
            </a:r>
          </a:p>
          <a:p>
            <a:pPr lvl="1"/>
            <a:r>
              <a:rPr lang="fr-CA" noProof="0" dirty="0"/>
              <a:t>🔍Peut aussi être utilisé pour exécuter programmes graphiques à distance avec X11 </a:t>
            </a:r>
            <a:r>
              <a:rPr lang="fr-CA" noProof="0" dirty="0" err="1"/>
              <a:t>forwarding</a:t>
            </a:r>
            <a:endParaRPr lang="fr-CA" noProof="0" dirty="0"/>
          </a:p>
          <a:p>
            <a:pPr lvl="2"/>
            <a:r>
              <a:rPr lang="fr-CA" noProof="0" dirty="0" err="1"/>
              <a:t>ssh</a:t>
            </a:r>
            <a:r>
              <a:rPr lang="fr-CA" noProof="0" dirty="0"/>
              <a:t> –X </a:t>
            </a:r>
            <a:r>
              <a:rPr lang="fr-CA" noProof="0" dirty="0" err="1"/>
              <a:t>utilisateur@addresse</a:t>
            </a:r>
            <a:r>
              <a:rPr lang="fr-CA" noProof="0" dirty="0"/>
              <a:t> ou </a:t>
            </a:r>
            <a:r>
              <a:rPr lang="fr-CA" noProof="0" dirty="0" err="1"/>
              <a:t>ssh</a:t>
            </a:r>
            <a:r>
              <a:rPr lang="fr-CA" noProof="0" dirty="0"/>
              <a:t> –Y </a:t>
            </a:r>
            <a:r>
              <a:rPr lang="fr-CA" noProof="0" dirty="0" err="1"/>
              <a:t>utilisateur@addresse</a:t>
            </a:r>
            <a:endParaRPr lang="fr-CA" noProof="0" dirty="0"/>
          </a:p>
          <a:p>
            <a:pPr lvl="1"/>
            <a:r>
              <a:rPr lang="fr-CA" noProof="0" dirty="0"/>
              <a:t>🔍Permet transfert de fichier avec SCP ou SFTP</a:t>
            </a:r>
          </a:p>
          <a:p>
            <a:pPr lvl="1"/>
            <a:r>
              <a:rPr lang="fr-CA" noProof="0" dirty="0"/>
              <a:t>🔍Peut créer des tunnels sécurisés pour d’autres protocoles</a:t>
            </a:r>
          </a:p>
          <a:p>
            <a:pPr lvl="2"/>
            <a:r>
              <a:rPr lang="fr-CA" noProof="0" dirty="0"/>
              <a:t>VNC, RDP (meilleurs protocoles pour accès graphique)</a:t>
            </a:r>
          </a:p>
          <a:p>
            <a:pPr lvl="1"/>
            <a:endParaRPr lang="fr-CA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361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05A8-E570-3525-A8DA-F859F378D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Clés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FE70A-2414-0EB4-997B-50F9FEC0D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A" dirty="0"/>
              <a:t>Paire de clés privée et public</a:t>
            </a:r>
          </a:p>
          <a:p>
            <a:pPr lvl="1"/>
            <a:r>
              <a:rPr lang="fr-FR" dirty="0"/>
              <a:t>La </a:t>
            </a:r>
            <a:r>
              <a:rPr lang="fr-FR" b="1" dirty="0"/>
              <a:t>clé privée</a:t>
            </a:r>
            <a:r>
              <a:rPr lang="fr-FR" dirty="0"/>
              <a:t> est secrète et doit être protégée (stockée sur l'ordinateur de l'utilisateur)</a:t>
            </a:r>
            <a:endParaRPr lang="fr-CA" dirty="0"/>
          </a:p>
          <a:p>
            <a:pPr lvl="1"/>
            <a:r>
              <a:rPr lang="fr-FR" dirty="0"/>
              <a:t>La </a:t>
            </a:r>
            <a:r>
              <a:rPr lang="fr-FR" b="1" dirty="0"/>
              <a:t>clé publique</a:t>
            </a:r>
            <a:r>
              <a:rPr lang="fr-FR" dirty="0"/>
              <a:t> peut être partagée librement et est stockée sur la machine distante</a:t>
            </a:r>
            <a:endParaRPr lang="fr-CA" dirty="0"/>
          </a:p>
          <a:p>
            <a:r>
              <a:rPr lang="fr-FR" dirty="0"/>
              <a:t>Authentification par clé publique :</a:t>
            </a:r>
          </a:p>
          <a:p>
            <a:pPr lvl="1"/>
            <a:r>
              <a:rPr lang="fr-FR" dirty="0"/>
              <a:t>Le serveur stocke la clé publique dans ~/.</a:t>
            </a:r>
            <a:r>
              <a:rPr lang="fr-FR" dirty="0" err="1"/>
              <a:t>ssh</a:t>
            </a:r>
            <a:r>
              <a:rPr lang="fr-FR" dirty="0"/>
              <a:t>/</a:t>
            </a:r>
            <a:r>
              <a:rPr lang="fr-FR" dirty="0" err="1"/>
              <a:t>authorized_keys</a:t>
            </a:r>
            <a:endParaRPr lang="fr-FR" dirty="0"/>
          </a:p>
          <a:p>
            <a:pPr lvl="1"/>
            <a:r>
              <a:rPr lang="fr-FR" dirty="0"/>
              <a:t>Lorsqu'un utilisateur tente de se connecter, le serveur envoie un défi que seul le détenteur de la clé privée peut résoudre</a:t>
            </a:r>
          </a:p>
          <a:p>
            <a:r>
              <a:rPr lang="fr-FR" dirty="0"/>
              <a:t>Ajout de clé publique sur serveur distant</a:t>
            </a:r>
          </a:p>
          <a:p>
            <a:pPr lvl="1"/>
            <a:r>
              <a:rPr lang="fr-FR" dirty="0" err="1"/>
              <a:t>ssh</a:t>
            </a:r>
            <a:r>
              <a:rPr lang="fr-FR" dirty="0"/>
              <a:t>-copy-id </a:t>
            </a:r>
            <a:r>
              <a:rPr lang="fr-FR" dirty="0" err="1"/>
              <a:t>util@addr</a:t>
            </a:r>
            <a:endParaRPr lang="fr-FR" dirty="0"/>
          </a:p>
          <a:p>
            <a:r>
              <a:rPr lang="fr-FR" dirty="0"/>
              <a:t>Sécurité des clés SSH</a:t>
            </a:r>
          </a:p>
          <a:p>
            <a:pPr lvl="1"/>
            <a:r>
              <a:rPr lang="en-CA" dirty="0"/>
              <a:t>Clé </a:t>
            </a:r>
            <a:r>
              <a:rPr lang="en-CA" dirty="0" err="1"/>
              <a:t>privée</a:t>
            </a:r>
            <a:r>
              <a:rPr lang="en-CA" dirty="0"/>
              <a:t> doit </a:t>
            </a:r>
            <a:r>
              <a:rPr lang="en-CA" dirty="0" err="1"/>
              <a:t>avoir</a:t>
            </a:r>
            <a:r>
              <a:rPr lang="en-CA" dirty="0"/>
              <a:t> permissions 600</a:t>
            </a:r>
          </a:p>
          <a:p>
            <a:pPr lvl="1"/>
            <a:r>
              <a:rPr lang="en-CA" dirty="0" err="1"/>
              <a:t>Utiliser</a:t>
            </a:r>
            <a:r>
              <a:rPr lang="en-CA" dirty="0"/>
              <a:t> ED25519 </a:t>
            </a:r>
            <a:r>
              <a:rPr lang="en-CA" dirty="0" err="1"/>
              <a:t>ou</a:t>
            </a:r>
            <a:r>
              <a:rPr lang="en-CA" dirty="0"/>
              <a:t> ECDSA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140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F75-80F1-EFAD-78B2-C2F6F5F3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Clés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BF62D-816D-A22F-4BF4-FD6E9CA17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Agent SSH (</a:t>
            </a:r>
            <a:r>
              <a:rPr lang="fr-CA" dirty="0" err="1"/>
              <a:t>ssh</a:t>
            </a:r>
            <a:r>
              <a:rPr lang="fr-CA" dirty="0"/>
              <a:t>-agent)</a:t>
            </a:r>
          </a:p>
          <a:p>
            <a:pPr lvl="1"/>
            <a:r>
              <a:rPr lang="fr-FR" dirty="0"/>
              <a:t>Permet de charger une clé privée en mémoire pour éviter de la retaper (</a:t>
            </a:r>
            <a:r>
              <a:rPr lang="fr-FR" dirty="0" err="1"/>
              <a:t>mdp</a:t>
            </a:r>
            <a:r>
              <a:rPr lang="fr-FR" dirty="0"/>
              <a:t>) à chaque connexion (</a:t>
            </a:r>
            <a:r>
              <a:rPr lang="fr-FR" dirty="0" err="1"/>
              <a:t>ssh-add</a:t>
            </a:r>
            <a:r>
              <a:rPr lang="fr-FR" dirty="0"/>
              <a:t>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7360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044F-3D24-C671-040D-2A418ABB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Tmux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8EA7D-9DA4-D110-746C-82944D5D9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Outil permettant de gérer plusieurs sessions de terminal dans une seule fenêtre</a:t>
            </a:r>
          </a:p>
          <a:p>
            <a:r>
              <a:rPr lang="fr-FR" dirty="0"/>
              <a:t>Permet de </a:t>
            </a:r>
            <a:r>
              <a:rPr lang="fr-FR" b="1" dirty="0"/>
              <a:t>détacher</a:t>
            </a:r>
            <a:r>
              <a:rPr lang="fr-FR" dirty="0"/>
              <a:t> une session et de la </a:t>
            </a:r>
            <a:r>
              <a:rPr lang="fr-FR" b="1" dirty="0"/>
              <a:t>reprendre</a:t>
            </a:r>
            <a:r>
              <a:rPr lang="fr-FR" dirty="0"/>
              <a:t> plus tard (</a:t>
            </a:r>
            <a:r>
              <a:rPr lang="fr-FR" dirty="0" err="1"/>
              <a:t>Persistence</a:t>
            </a:r>
            <a:r>
              <a:rPr lang="fr-FR" dirty="0"/>
              <a:t>) (utile pour les connexions SSH)</a:t>
            </a:r>
          </a:p>
          <a:p>
            <a:r>
              <a:rPr lang="fr-FR" dirty="0"/>
              <a:t>Commandes de base</a:t>
            </a:r>
          </a:p>
          <a:p>
            <a:pPr lvl="1"/>
            <a:r>
              <a:rPr lang="en-US" dirty="0" err="1"/>
              <a:t>tmux</a:t>
            </a:r>
            <a:r>
              <a:rPr lang="en-US" dirty="0"/>
              <a:t> new -s </a:t>
            </a:r>
            <a:r>
              <a:rPr lang="en-US" dirty="0" err="1"/>
              <a:t>nom_session</a:t>
            </a:r>
            <a:r>
              <a:rPr lang="fr-FR" dirty="0"/>
              <a:t> (Lancer session avec nom)</a:t>
            </a:r>
          </a:p>
          <a:p>
            <a:pPr lvl="1"/>
            <a:r>
              <a:rPr lang="fr-FR" dirty="0" err="1"/>
              <a:t>tmux</a:t>
            </a:r>
            <a:r>
              <a:rPr lang="fr-FR" dirty="0"/>
              <a:t> –ls (lister sessions)</a:t>
            </a:r>
          </a:p>
          <a:p>
            <a:pPr lvl="1"/>
            <a:r>
              <a:rPr lang="fr-FR" dirty="0" err="1"/>
              <a:t>tmux</a:t>
            </a:r>
            <a:r>
              <a:rPr lang="fr-FR" dirty="0"/>
              <a:t> </a:t>
            </a:r>
            <a:r>
              <a:rPr lang="fr-FR" dirty="0" err="1"/>
              <a:t>attach</a:t>
            </a:r>
            <a:r>
              <a:rPr lang="fr-FR" dirty="0"/>
              <a:t> –t </a:t>
            </a:r>
            <a:r>
              <a:rPr lang="fr-FR" dirty="0" err="1"/>
              <a:t>nom_session</a:t>
            </a:r>
            <a:r>
              <a:rPr lang="fr-FR" dirty="0"/>
              <a:t> (Attacher à  session existante)</a:t>
            </a:r>
          </a:p>
          <a:p>
            <a:pPr lvl="1"/>
            <a:r>
              <a:rPr lang="fr-FR" dirty="0"/>
              <a:t>Ctrl-B d (Détacher session)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51340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D7CB-F784-C7CA-9F7C-DFB7C9F6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Tmux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C832A-F0F8-2A18-FF8A-11BA67E6F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Gestion de fenêtres et panneaux</a:t>
            </a:r>
          </a:p>
          <a:p>
            <a:pPr lvl="1"/>
            <a:r>
              <a:rPr lang="fr-CA" dirty="0"/>
              <a:t>Ctrl-B c (Nouvelle fenêtre)</a:t>
            </a:r>
          </a:p>
          <a:p>
            <a:pPr lvl="1"/>
            <a:r>
              <a:rPr lang="en-CA" dirty="0" err="1"/>
              <a:t>Basculer</a:t>
            </a:r>
            <a:r>
              <a:rPr lang="en-CA" dirty="0"/>
              <a:t> entre </a:t>
            </a:r>
            <a:r>
              <a:rPr lang="en-CA" dirty="0" err="1"/>
              <a:t>fenêtres</a:t>
            </a:r>
            <a:r>
              <a:rPr lang="en-CA" dirty="0"/>
              <a:t>: </a:t>
            </a:r>
            <a:r>
              <a:rPr lang="fr-FR" dirty="0"/>
              <a:t> Ctrl-b n (suivante), Ctrl-b p (précédente)</a:t>
            </a:r>
          </a:p>
          <a:p>
            <a:pPr lvl="1"/>
            <a:r>
              <a:rPr lang="fr-FR" dirty="0"/>
              <a:t>Diviser en panneaux: Horizontalement : Ctrl-b "  ,  Verticalement : Ctrl-b %</a:t>
            </a:r>
          </a:p>
          <a:p>
            <a:pPr lvl="1"/>
            <a:r>
              <a:rPr lang="fr-FR" dirty="0"/>
              <a:t>Naviguer entre panneaux: Ctrl-b et (flèches)</a:t>
            </a:r>
          </a:p>
          <a:p>
            <a:pPr lvl="1"/>
            <a:r>
              <a:rPr lang="fr-FR" dirty="0"/>
              <a:t>Fermer panneau: Ctrl-b x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15183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498E-25B8-4BC0-934B-B014C17C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Nginx – Serveur Web et Proxy Inversé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3FF34-6360-EFBC-0F5F-9F766D9FD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Serveur léger et performant</a:t>
            </a:r>
          </a:p>
          <a:p>
            <a:r>
              <a:rPr lang="fr-CA" dirty="0"/>
              <a:t>Proxy Inversé – Intermédiaire entre serveurs</a:t>
            </a:r>
          </a:p>
          <a:p>
            <a:pPr lvl="1"/>
            <a:r>
              <a:rPr lang="fr-CA" dirty="0"/>
              <a:t>Masquer adresses des serveurs backend</a:t>
            </a:r>
          </a:p>
          <a:p>
            <a:pPr lvl="1"/>
            <a:r>
              <a:rPr lang="fr-CA" dirty="0"/>
              <a:t>Servir plusieurs services/applications sur même domaine (ex: images.google.com, drive.google.com)</a:t>
            </a:r>
          </a:p>
          <a:p>
            <a:pPr lvl="1"/>
            <a:r>
              <a:rPr lang="fr-CA" dirty="0"/>
              <a:t>Associer chemin à port (Ex: /service et port 5000)</a:t>
            </a:r>
          </a:p>
          <a:p>
            <a:r>
              <a:rPr lang="fr-CA" dirty="0"/>
              <a:t>Administration du service </a:t>
            </a:r>
            <a:r>
              <a:rPr lang="fr-CA" dirty="0" err="1"/>
              <a:t>nginx</a:t>
            </a:r>
            <a:r>
              <a:rPr lang="fr-CA" dirty="0"/>
              <a:t> avec </a:t>
            </a:r>
            <a:r>
              <a:rPr lang="fr-CA" dirty="0" err="1"/>
              <a:t>systemctl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7577391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3186</TotalTime>
  <Words>405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 Next LT Pro</vt:lpstr>
      <vt:lpstr>Grandview Display</vt:lpstr>
      <vt:lpstr>DashVTI</vt:lpstr>
      <vt:lpstr>INF1070 Lab9</vt:lpstr>
      <vt:lpstr>SSH</vt:lpstr>
      <vt:lpstr>Clés</vt:lpstr>
      <vt:lpstr>Clés</vt:lpstr>
      <vt:lpstr>Tmux</vt:lpstr>
      <vt:lpstr>Tmux</vt:lpstr>
      <vt:lpstr>Nginx – Serveur Web et Proxy Inversé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3</cp:revision>
  <dcterms:created xsi:type="dcterms:W3CDTF">2025-03-15T15:36:14Z</dcterms:created>
  <dcterms:modified xsi:type="dcterms:W3CDTF">2025-03-21T04:38:30Z</dcterms:modified>
</cp:coreProperties>
</file>