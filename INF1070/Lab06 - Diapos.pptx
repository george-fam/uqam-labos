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3" r:id="rId5"/>
    <p:sldId id="295" r:id="rId6"/>
    <p:sldId id="296" r:id="rId7"/>
    <p:sldId id="297" r:id="rId8"/>
    <p:sldId id="298" r:id="rId9"/>
    <p:sldId id="299" r:id="rId10"/>
    <p:sldId id="30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1" autoAdjust="0"/>
    <p:restoredTop sz="94619" autoAdjust="0"/>
  </p:normalViewPr>
  <p:slideViewPr>
    <p:cSldViewPr snapToGrid="0">
      <p:cViewPr varScale="1">
        <p:scale>
          <a:sx n="189" d="100"/>
          <a:sy n="189" d="100"/>
        </p:scale>
        <p:origin x="355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F99DEA6-5CF4-4B23-A66B-CB8B47BF620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EC478FE-27A5-4977-A77E-078584ABC315}">
      <dgm:prSet/>
      <dgm:spPr/>
      <dgm:t>
        <a:bodyPr/>
        <a:lstStyle/>
        <a:p>
          <a:r>
            <a:rPr lang="fr-FR"/>
            <a:t>Comprendre et manipuler les commandes d'archivage et de compression (tar, gzip, bzip2, xz).</a:t>
          </a:r>
          <a:endParaRPr lang="en-US"/>
        </a:p>
      </dgm:t>
    </dgm:pt>
    <dgm:pt modelId="{EEB34B51-BCFD-4F2B-B843-0759A9F25881}" type="parTrans" cxnId="{01730DDF-8F88-44CC-95DD-B98615690C17}">
      <dgm:prSet/>
      <dgm:spPr/>
      <dgm:t>
        <a:bodyPr/>
        <a:lstStyle/>
        <a:p>
          <a:endParaRPr lang="en-US"/>
        </a:p>
      </dgm:t>
    </dgm:pt>
    <dgm:pt modelId="{3E7B6C0F-CC89-44B2-B669-6167EBCD38AF}" type="sibTrans" cxnId="{01730DDF-8F88-44CC-95DD-B98615690C17}">
      <dgm:prSet/>
      <dgm:spPr/>
      <dgm:t>
        <a:bodyPr/>
        <a:lstStyle/>
        <a:p>
          <a:endParaRPr lang="en-US"/>
        </a:p>
      </dgm:t>
    </dgm:pt>
    <dgm:pt modelId="{CEFCFF7D-845F-4376-BA7C-97FBA3DBA68C}">
      <dgm:prSet/>
      <dgm:spPr/>
      <dgm:t>
        <a:bodyPr/>
        <a:lstStyle/>
        <a:p>
          <a:r>
            <a:rPr lang="fr-FR" dirty="0"/>
            <a:t>Explorer la hiérarchie des fichiers sous Linux (FHS) et localiser des fichiers systèmes courants.</a:t>
          </a:r>
          <a:endParaRPr lang="en-US" dirty="0"/>
        </a:p>
      </dgm:t>
    </dgm:pt>
    <dgm:pt modelId="{CC62A0C8-2627-47C6-93FB-0F9F6C653A1C}" type="parTrans" cxnId="{C42B4F56-3D1E-4D8A-A021-7EEF349D0AB6}">
      <dgm:prSet/>
      <dgm:spPr/>
      <dgm:t>
        <a:bodyPr/>
        <a:lstStyle/>
        <a:p>
          <a:endParaRPr lang="en-US"/>
        </a:p>
      </dgm:t>
    </dgm:pt>
    <dgm:pt modelId="{78F91A81-601A-4D75-8D6E-EBB5D6870B7E}" type="sibTrans" cxnId="{C42B4F56-3D1E-4D8A-A021-7EEF349D0AB6}">
      <dgm:prSet/>
      <dgm:spPr/>
      <dgm:t>
        <a:bodyPr/>
        <a:lstStyle/>
        <a:p>
          <a:endParaRPr lang="en-US"/>
        </a:p>
      </dgm:t>
    </dgm:pt>
    <dgm:pt modelId="{FBE39590-3383-44DF-AB13-27C783C6EE04}">
      <dgm:prSet/>
      <dgm:spPr/>
      <dgm:t>
        <a:bodyPr/>
        <a:lstStyle/>
        <a:p>
          <a:r>
            <a:rPr lang="fr-FR"/>
            <a:t>Expérimenter avec la mise à jour et la modification d'archives sans les recréer entièrement.</a:t>
          </a:r>
          <a:endParaRPr lang="en-US"/>
        </a:p>
      </dgm:t>
    </dgm:pt>
    <dgm:pt modelId="{26B87EF2-45F2-4D86-95CE-627896A1837A}" type="parTrans" cxnId="{2C7F26E1-B7FB-409F-B523-732331AD0DE5}">
      <dgm:prSet/>
      <dgm:spPr/>
      <dgm:t>
        <a:bodyPr/>
        <a:lstStyle/>
        <a:p>
          <a:endParaRPr lang="en-US"/>
        </a:p>
      </dgm:t>
    </dgm:pt>
    <dgm:pt modelId="{D5092AA8-5BB2-4974-9F9E-C3F40C7E05CF}" type="sibTrans" cxnId="{2C7F26E1-B7FB-409F-B523-732331AD0DE5}">
      <dgm:prSet/>
      <dgm:spPr/>
      <dgm:t>
        <a:bodyPr/>
        <a:lstStyle/>
        <a:p>
          <a:endParaRPr lang="en-US"/>
        </a:p>
      </dgm:t>
    </dgm:pt>
    <dgm:pt modelId="{EE5602A8-D0E8-4946-88BC-FDB407C686EB}">
      <dgm:prSet/>
      <dgm:spPr/>
      <dgm:t>
        <a:bodyPr/>
        <a:lstStyle/>
        <a:p>
          <a:r>
            <a:rPr lang="fr-FR"/>
            <a:t>Comparer les performances des différents outils de compression.</a:t>
          </a:r>
          <a:endParaRPr lang="en-US"/>
        </a:p>
      </dgm:t>
    </dgm:pt>
    <dgm:pt modelId="{B6C01CA5-1D5C-4933-B738-86EEFEE97777}" type="parTrans" cxnId="{85C628A3-5428-4047-8647-265ADC8CF782}">
      <dgm:prSet/>
      <dgm:spPr/>
      <dgm:t>
        <a:bodyPr/>
        <a:lstStyle/>
        <a:p>
          <a:endParaRPr lang="en-US"/>
        </a:p>
      </dgm:t>
    </dgm:pt>
    <dgm:pt modelId="{2C9838B8-C4C6-4FEC-A447-F777B09744D0}" type="sibTrans" cxnId="{85C628A3-5428-4047-8647-265ADC8CF782}">
      <dgm:prSet/>
      <dgm:spPr/>
      <dgm:t>
        <a:bodyPr/>
        <a:lstStyle/>
        <a:p>
          <a:endParaRPr lang="en-US"/>
        </a:p>
      </dgm:t>
    </dgm:pt>
    <dgm:pt modelId="{9193ACBB-DEC7-42F3-8D36-E8261458E31B}">
      <dgm:prSet/>
      <dgm:spPr/>
      <dgm:t>
        <a:bodyPr/>
        <a:lstStyle/>
        <a:p>
          <a:r>
            <a:rPr lang="fr-FR" dirty="0"/>
            <a:t>Renforcer les compétences sur la gestion des fichiers et des répertoires dans un environnement Linux.</a:t>
          </a:r>
          <a:endParaRPr lang="en-US" dirty="0"/>
        </a:p>
      </dgm:t>
    </dgm:pt>
    <dgm:pt modelId="{8CE30025-2AD5-466A-83E1-0ED4F18150F9}" type="parTrans" cxnId="{05FE4490-F7A8-467F-B7A9-909629186FD7}">
      <dgm:prSet/>
      <dgm:spPr/>
      <dgm:t>
        <a:bodyPr/>
        <a:lstStyle/>
        <a:p>
          <a:endParaRPr lang="en-US"/>
        </a:p>
      </dgm:t>
    </dgm:pt>
    <dgm:pt modelId="{4BB5C667-1986-465B-B576-8C2327DD50D3}" type="sibTrans" cxnId="{05FE4490-F7A8-467F-B7A9-909629186FD7}">
      <dgm:prSet/>
      <dgm:spPr/>
      <dgm:t>
        <a:bodyPr/>
        <a:lstStyle/>
        <a:p>
          <a:endParaRPr lang="en-US"/>
        </a:p>
      </dgm:t>
    </dgm:pt>
    <dgm:pt modelId="{EC0FB727-ADFD-4FEB-874F-9035677E23EE}" type="pres">
      <dgm:prSet presAssocID="{6F99DEA6-5CF4-4B23-A66B-CB8B47BF620D}" presName="linear" presStyleCnt="0">
        <dgm:presLayoutVars>
          <dgm:animLvl val="lvl"/>
          <dgm:resizeHandles val="exact"/>
        </dgm:presLayoutVars>
      </dgm:prSet>
      <dgm:spPr/>
    </dgm:pt>
    <dgm:pt modelId="{87A99937-A275-4AD8-B463-CD4F1A45D62A}" type="pres">
      <dgm:prSet presAssocID="{DEC478FE-27A5-4977-A77E-078584ABC31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2D650F3-E23B-4E9F-A98D-78BD4B955C39}" type="pres">
      <dgm:prSet presAssocID="{3E7B6C0F-CC89-44B2-B669-6167EBCD38AF}" presName="spacer" presStyleCnt="0"/>
      <dgm:spPr/>
    </dgm:pt>
    <dgm:pt modelId="{88B9AA1F-590D-4833-836C-1E3B9EB2EFD9}" type="pres">
      <dgm:prSet presAssocID="{CEFCFF7D-845F-4376-BA7C-97FBA3DBA68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3C5AAA3-6E13-4873-8889-58467F20B74B}" type="pres">
      <dgm:prSet presAssocID="{78F91A81-601A-4D75-8D6E-EBB5D6870B7E}" presName="spacer" presStyleCnt="0"/>
      <dgm:spPr/>
    </dgm:pt>
    <dgm:pt modelId="{7BC165C3-EBCA-4CF4-96B9-61144BADDC26}" type="pres">
      <dgm:prSet presAssocID="{FBE39590-3383-44DF-AB13-27C783C6EE0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CF3B6EF-8D35-4B7E-A339-9E0652A8CA30}" type="pres">
      <dgm:prSet presAssocID="{D5092AA8-5BB2-4974-9F9E-C3F40C7E05CF}" presName="spacer" presStyleCnt="0"/>
      <dgm:spPr/>
    </dgm:pt>
    <dgm:pt modelId="{770664F5-CD3B-42CA-A155-894ACFE573CB}" type="pres">
      <dgm:prSet presAssocID="{EE5602A8-D0E8-4946-88BC-FDB407C686E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BCB17B6-1FD3-42F0-8DB4-ECE9A0A6BCCA}" type="pres">
      <dgm:prSet presAssocID="{2C9838B8-C4C6-4FEC-A447-F777B09744D0}" presName="spacer" presStyleCnt="0"/>
      <dgm:spPr/>
    </dgm:pt>
    <dgm:pt modelId="{4D2A6394-B30F-4910-BE25-5135EFF06CCD}" type="pres">
      <dgm:prSet presAssocID="{9193ACBB-DEC7-42F3-8D36-E8261458E31B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1166E1B-A03A-4B50-9DFD-737D4D05BBFB}" type="presOf" srcId="{CEFCFF7D-845F-4376-BA7C-97FBA3DBA68C}" destId="{88B9AA1F-590D-4833-836C-1E3B9EB2EFD9}" srcOrd="0" destOrd="0" presId="urn:microsoft.com/office/officeart/2005/8/layout/vList2"/>
    <dgm:cxn modelId="{58478123-F5BA-45BB-A473-D0D2E4BCA23E}" type="presOf" srcId="{9193ACBB-DEC7-42F3-8D36-E8261458E31B}" destId="{4D2A6394-B30F-4910-BE25-5135EFF06CCD}" srcOrd="0" destOrd="0" presId="urn:microsoft.com/office/officeart/2005/8/layout/vList2"/>
    <dgm:cxn modelId="{511DD15E-AFEB-4F35-9D77-D9FD39431C67}" type="presOf" srcId="{EE5602A8-D0E8-4946-88BC-FDB407C686EB}" destId="{770664F5-CD3B-42CA-A155-894ACFE573CB}" srcOrd="0" destOrd="0" presId="urn:microsoft.com/office/officeart/2005/8/layout/vList2"/>
    <dgm:cxn modelId="{C4E9DF6B-0E70-4A79-9954-56ADCE2DA145}" type="presOf" srcId="{DEC478FE-27A5-4977-A77E-078584ABC315}" destId="{87A99937-A275-4AD8-B463-CD4F1A45D62A}" srcOrd="0" destOrd="0" presId="urn:microsoft.com/office/officeart/2005/8/layout/vList2"/>
    <dgm:cxn modelId="{C42B4F56-3D1E-4D8A-A021-7EEF349D0AB6}" srcId="{6F99DEA6-5CF4-4B23-A66B-CB8B47BF620D}" destId="{CEFCFF7D-845F-4376-BA7C-97FBA3DBA68C}" srcOrd="1" destOrd="0" parTransId="{CC62A0C8-2627-47C6-93FB-0F9F6C653A1C}" sibTransId="{78F91A81-601A-4D75-8D6E-EBB5D6870B7E}"/>
    <dgm:cxn modelId="{05FE4490-F7A8-467F-B7A9-909629186FD7}" srcId="{6F99DEA6-5CF4-4B23-A66B-CB8B47BF620D}" destId="{9193ACBB-DEC7-42F3-8D36-E8261458E31B}" srcOrd="4" destOrd="0" parTransId="{8CE30025-2AD5-466A-83E1-0ED4F18150F9}" sibTransId="{4BB5C667-1986-465B-B576-8C2327DD50D3}"/>
    <dgm:cxn modelId="{6ECD5C91-7695-4387-82D5-85CF3AFA3725}" type="presOf" srcId="{6F99DEA6-5CF4-4B23-A66B-CB8B47BF620D}" destId="{EC0FB727-ADFD-4FEB-874F-9035677E23EE}" srcOrd="0" destOrd="0" presId="urn:microsoft.com/office/officeart/2005/8/layout/vList2"/>
    <dgm:cxn modelId="{85C628A3-5428-4047-8647-265ADC8CF782}" srcId="{6F99DEA6-5CF4-4B23-A66B-CB8B47BF620D}" destId="{EE5602A8-D0E8-4946-88BC-FDB407C686EB}" srcOrd="3" destOrd="0" parTransId="{B6C01CA5-1D5C-4933-B738-86EEFEE97777}" sibTransId="{2C9838B8-C4C6-4FEC-A447-F777B09744D0}"/>
    <dgm:cxn modelId="{01730DDF-8F88-44CC-95DD-B98615690C17}" srcId="{6F99DEA6-5CF4-4B23-A66B-CB8B47BF620D}" destId="{DEC478FE-27A5-4977-A77E-078584ABC315}" srcOrd="0" destOrd="0" parTransId="{EEB34B51-BCFD-4F2B-B843-0759A9F25881}" sibTransId="{3E7B6C0F-CC89-44B2-B669-6167EBCD38AF}"/>
    <dgm:cxn modelId="{2C7F26E1-B7FB-409F-B523-732331AD0DE5}" srcId="{6F99DEA6-5CF4-4B23-A66B-CB8B47BF620D}" destId="{FBE39590-3383-44DF-AB13-27C783C6EE04}" srcOrd="2" destOrd="0" parTransId="{26B87EF2-45F2-4D86-95CE-627896A1837A}" sibTransId="{D5092AA8-5BB2-4974-9F9E-C3F40C7E05CF}"/>
    <dgm:cxn modelId="{5505CFEA-9E9B-496E-8B9F-D5E28A828C1A}" type="presOf" srcId="{FBE39590-3383-44DF-AB13-27C783C6EE04}" destId="{7BC165C3-EBCA-4CF4-96B9-61144BADDC26}" srcOrd="0" destOrd="0" presId="urn:microsoft.com/office/officeart/2005/8/layout/vList2"/>
    <dgm:cxn modelId="{97BAD739-E6AF-4B39-AF0C-901684F2192F}" type="presParOf" srcId="{EC0FB727-ADFD-4FEB-874F-9035677E23EE}" destId="{87A99937-A275-4AD8-B463-CD4F1A45D62A}" srcOrd="0" destOrd="0" presId="urn:microsoft.com/office/officeart/2005/8/layout/vList2"/>
    <dgm:cxn modelId="{5B43DD3D-1F3D-449F-91A4-E06FDC8B819B}" type="presParOf" srcId="{EC0FB727-ADFD-4FEB-874F-9035677E23EE}" destId="{02D650F3-E23B-4E9F-A98D-78BD4B955C39}" srcOrd="1" destOrd="0" presId="urn:microsoft.com/office/officeart/2005/8/layout/vList2"/>
    <dgm:cxn modelId="{59289057-06F1-4D4C-9A1F-A2EC90A969DF}" type="presParOf" srcId="{EC0FB727-ADFD-4FEB-874F-9035677E23EE}" destId="{88B9AA1F-590D-4833-836C-1E3B9EB2EFD9}" srcOrd="2" destOrd="0" presId="urn:microsoft.com/office/officeart/2005/8/layout/vList2"/>
    <dgm:cxn modelId="{30077B0A-4B57-4CC2-A030-B9FB9715C757}" type="presParOf" srcId="{EC0FB727-ADFD-4FEB-874F-9035677E23EE}" destId="{63C5AAA3-6E13-4873-8889-58467F20B74B}" srcOrd="3" destOrd="0" presId="urn:microsoft.com/office/officeart/2005/8/layout/vList2"/>
    <dgm:cxn modelId="{AC82FAED-92F6-4B08-9A84-DD202F8FC8C0}" type="presParOf" srcId="{EC0FB727-ADFD-4FEB-874F-9035677E23EE}" destId="{7BC165C3-EBCA-4CF4-96B9-61144BADDC26}" srcOrd="4" destOrd="0" presId="urn:microsoft.com/office/officeart/2005/8/layout/vList2"/>
    <dgm:cxn modelId="{D8E72CCE-DDB1-42CF-849A-0DF825E67C06}" type="presParOf" srcId="{EC0FB727-ADFD-4FEB-874F-9035677E23EE}" destId="{1CF3B6EF-8D35-4B7E-A339-9E0652A8CA30}" srcOrd="5" destOrd="0" presId="urn:microsoft.com/office/officeart/2005/8/layout/vList2"/>
    <dgm:cxn modelId="{EB8EC71F-1C5D-4241-8B02-C27AE00C4F5F}" type="presParOf" srcId="{EC0FB727-ADFD-4FEB-874F-9035677E23EE}" destId="{770664F5-CD3B-42CA-A155-894ACFE573CB}" srcOrd="6" destOrd="0" presId="urn:microsoft.com/office/officeart/2005/8/layout/vList2"/>
    <dgm:cxn modelId="{DB17E2A7-81AB-4B2E-85F3-ECAF760F2CB2}" type="presParOf" srcId="{EC0FB727-ADFD-4FEB-874F-9035677E23EE}" destId="{8BCB17B6-1FD3-42F0-8DB4-ECE9A0A6BCCA}" srcOrd="7" destOrd="0" presId="urn:microsoft.com/office/officeart/2005/8/layout/vList2"/>
    <dgm:cxn modelId="{A8D3F810-A519-4BA6-A9FC-D9D695BCC58A}" type="presParOf" srcId="{EC0FB727-ADFD-4FEB-874F-9035677E23EE}" destId="{4D2A6394-B30F-4910-BE25-5135EFF06CC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D7BC633-80CC-41C3-8A75-92911D1740E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D21E920-EACB-4E6D-B65E-855D0112882F}">
      <dgm:prSet/>
      <dgm:spPr/>
      <dgm:t>
        <a:bodyPr/>
        <a:lstStyle/>
        <a:p>
          <a:r>
            <a:rPr lang="fr-CA"/>
            <a:t>Outils de compression</a:t>
          </a:r>
          <a:endParaRPr lang="en-US"/>
        </a:p>
      </dgm:t>
    </dgm:pt>
    <dgm:pt modelId="{A025348C-E48D-4B13-8A36-66F964D1B684}" type="parTrans" cxnId="{5607C72E-00EF-4D61-9F39-10F11C324AAB}">
      <dgm:prSet/>
      <dgm:spPr/>
      <dgm:t>
        <a:bodyPr/>
        <a:lstStyle/>
        <a:p>
          <a:endParaRPr lang="en-US"/>
        </a:p>
      </dgm:t>
    </dgm:pt>
    <dgm:pt modelId="{CC746CA9-9604-4D55-A387-BA3D0456056C}" type="sibTrans" cxnId="{5607C72E-00EF-4D61-9F39-10F11C324AAB}">
      <dgm:prSet/>
      <dgm:spPr/>
      <dgm:t>
        <a:bodyPr/>
        <a:lstStyle/>
        <a:p>
          <a:endParaRPr lang="en-US"/>
        </a:p>
      </dgm:t>
    </dgm:pt>
    <dgm:pt modelId="{7C564010-B693-4F6A-85A1-2EEF62BA1581}">
      <dgm:prSet/>
      <dgm:spPr/>
      <dgm:t>
        <a:bodyPr/>
        <a:lstStyle/>
        <a:p>
          <a:r>
            <a:rPr lang="fr-CA" dirty="0" err="1"/>
            <a:t>gzip</a:t>
          </a:r>
          <a:endParaRPr lang="en-US" dirty="0"/>
        </a:p>
      </dgm:t>
    </dgm:pt>
    <dgm:pt modelId="{23017C00-FEBD-48A2-BA90-600854C1FDBC}" type="parTrans" cxnId="{8153DE0E-9C1D-4DCA-AAC8-7831D89676E5}">
      <dgm:prSet/>
      <dgm:spPr/>
      <dgm:t>
        <a:bodyPr/>
        <a:lstStyle/>
        <a:p>
          <a:endParaRPr lang="en-US"/>
        </a:p>
      </dgm:t>
    </dgm:pt>
    <dgm:pt modelId="{04529FBD-2E8C-4ED4-B53B-FFE22F250822}" type="sibTrans" cxnId="{8153DE0E-9C1D-4DCA-AAC8-7831D89676E5}">
      <dgm:prSet/>
      <dgm:spPr/>
      <dgm:t>
        <a:bodyPr/>
        <a:lstStyle/>
        <a:p>
          <a:endParaRPr lang="en-US"/>
        </a:p>
      </dgm:t>
    </dgm:pt>
    <dgm:pt modelId="{465714CD-3618-4174-A77B-8602476BC244}">
      <dgm:prSet/>
      <dgm:spPr/>
      <dgm:t>
        <a:bodyPr/>
        <a:lstStyle/>
        <a:p>
          <a:r>
            <a:rPr lang="fr-CA" dirty="0"/>
            <a:t>bzip2</a:t>
          </a:r>
          <a:endParaRPr lang="en-US" dirty="0"/>
        </a:p>
      </dgm:t>
    </dgm:pt>
    <dgm:pt modelId="{E6982B54-6BE4-42C4-B613-C0AD44A45F5A}" type="parTrans" cxnId="{D875724E-B33B-43AA-BEDE-104E39CE5B88}">
      <dgm:prSet/>
      <dgm:spPr/>
      <dgm:t>
        <a:bodyPr/>
        <a:lstStyle/>
        <a:p>
          <a:endParaRPr lang="en-US"/>
        </a:p>
      </dgm:t>
    </dgm:pt>
    <dgm:pt modelId="{EFEF520E-2C5F-42E8-B2A1-9BD9091B4AAA}" type="sibTrans" cxnId="{D875724E-B33B-43AA-BEDE-104E39CE5B88}">
      <dgm:prSet/>
      <dgm:spPr/>
      <dgm:t>
        <a:bodyPr/>
        <a:lstStyle/>
        <a:p>
          <a:endParaRPr lang="en-US"/>
        </a:p>
      </dgm:t>
    </dgm:pt>
    <dgm:pt modelId="{F7C202E5-DA0C-4805-BCE4-DCF9E2FACD4E}">
      <dgm:prSet/>
      <dgm:spPr/>
      <dgm:t>
        <a:bodyPr/>
        <a:lstStyle/>
        <a:p>
          <a:r>
            <a:rPr lang="fr-CA" dirty="0" err="1"/>
            <a:t>xz</a:t>
          </a:r>
          <a:endParaRPr lang="en-US" dirty="0"/>
        </a:p>
      </dgm:t>
    </dgm:pt>
    <dgm:pt modelId="{2F649E69-54D0-41D4-86C4-2D4A516C45F0}" type="parTrans" cxnId="{850D0F7B-A34D-4AAE-9633-CA8377B8D8CC}">
      <dgm:prSet/>
      <dgm:spPr/>
      <dgm:t>
        <a:bodyPr/>
        <a:lstStyle/>
        <a:p>
          <a:endParaRPr lang="en-US"/>
        </a:p>
      </dgm:t>
    </dgm:pt>
    <dgm:pt modelId="{2A9BB77F-B11D-4639-BB7F-76CE69EBB532}" type="sibTrans" cxnId="{850D0F7B-A34D-4AAE-9633-CA8377B8D8CC}">
      <dgm:prSet/>
      <dgm:spPr/>
      <dgm:t>
        <a:bodyPr/>
        <a:lstStyle/>
        <a:p>
          <a:endParaRPr lang="en-US"/>
        </a:p>
      </dgm:t>
    </dgm:pt>
    <dgm:pt modelId="{567BBB26-0642-462F-BE58-05F19028E29A}">
      <dgm:prSet/>
      <dgm:spPr/>
      <dgm:t>
        <a:bodyPr/>
        <a:lstStyle/>
        <a:p>
          <a:r>
            <a:rPr lang="fr-CA"/>
            <a:t>Différences entre algorithmes de compression:</a:t>
          </a:r>
          <a:endParaRPr lang="en-US"/>
        </a:p>
      </dgm:t>
    </dgm:pt>
    <dgm:pt modelId="{33B40782-E7CE-4760-8EB6-3CBC2779F813}" type="parTrans" cxnId="{9C67B6B0-B29C-469D-AE97-456F50D69A37}">
      <dgm:prSet/>
      <dgm:spPr/>
      <dgm:t>
        <a:bodyPr/>
        <a:lstStyle/>
        <a:p>
          <a:endParaRPr lang="en-US"/>
        </a:p>
      </dgm:t>
    </dgm:pt>
    <dgm:pt modelId="{066F09A8-D360-4F54-AB74-E4769449F034}" type="sibTrans" cxnId="{9C67B6B0-B29C-469D-AE97-456F50D69A37}">
      <dgm:prSet/>
      <dgm:spPr/>
      <dgm:t>
        <a:bodyPr/>
        <a:lstStyle/>
        <a:p>
          <a:endParaRPr lang="en-US"/>
        </a:p>
      </dgm:t>
    </dgm:pt>
    <dgm:pt modelId="{C50B721A-516D-4085-BEDB-B0D1A3CCFD9C}">
      <dgm:prSet/>
      <dgm:spPr/>
      <dgm:t>
        <a:bodyPr/>
        <a:lstStyle/>
        <a:p>
          <a:r>
            <a:rPr lang="fr-FR"/>
            <a:t>gzip : rapide, moins efficace en compression</a:t>
          </a:r>
          <a:endParaRPr lang="en-US"/>
        </a:p>
      </dgm:t>
    </dgm:pt>
    <dgm:pt modelId="{7D3F7E4A-A87B-41F3-ACB6-B73DF2361C6E}" type="parTrans" cxnId="{7595149B-6D1A-4550-9AAD-B01D128F2011}">
      <dgm:prSet/>
      <dgm:spPr/>
      <dgm:t>
        <a:bodyPr/>
        <a:lstStyle/>
        <a:p>
          <a:endParaRPr lang="en-US"/>
        </a:p>
      </dgm:t>
    </dgm:pt>
    <dgm:pt modelId="{36740029-02F6-49A7-958D-EA163F7E4C5D}" type="sibTrans" cxnId="{7595149B-6D1A-4550-9AAD-B01D128F2011}">
      <dgm:prSet/>
      <dgm:spPr/>
      <dgm:t>
        <a:bodyPr/>
        <a:lstStyle/>
        <a:p>
          <a:endParaRPr lang="en-US"/>
        </a:p>
      </dgm:t>
    </dgm:pt>
    <dgm:pt modelId="{516BC857-2A71-417C-A6FC-C917C71A53B9}">
      <dgm:prSet/>
      <dgm:spPr/>
      <dgm:t>
        <a:bodyPr/>
        <a:lstStyle/>
        <a:p>
          <a:r>
            <a:rPr lang="fr-FR"/>
            <a:t>bzip2 : plus lent, meilleure compression</a:t>
          </a:r>
          <a:endParaRPr lang="en-US"/>
        </a:p>
      </dgm:t>
    </dgm:pt>
    <dgm:pt modelId="{C2EF9579-92C7-4CD3-BD3C-DEAD675D38D8}" type="parTrans" cxnId="{10BDDF25-049A-4B53-9D0F-8B9B4B54BB6B}">
      <dgm:prSet/>
      <dgm:spPr/>
      <dgm:t>
        <a:bodyPr/>
        <a:lstStyle/>
        <a:p>
          <a:endParaRPr lang="en-US"/>
        </a:p>
      </dgm:t>
    </dgm:pt>
    <dgm:pt modelId="{D4BDB1A7-FF3B-4755-8BF2-233931DFF980}" type="sibTrans" cxnId="{10BDDF25-049A-4B53-9D0F-8B9B4B54BB6B}">
      <dgm:prSet/>
      <dgm:spPr/>
      <dgm:t>
        <a:bodyPr/>
        <a:lstStyle/>
        <a:p>
          <a:endParaRPr lang="en-US"/>
        </a:p>
      </dgm:t>
    </dgm:pt>
    <dgm:pt modelId="{B1F64C37-926D-405C-9103-FBFF3E6F1E57}">
      <dgm:prSet/>
      <dgm:spPr/>
      <dgm:t>
        <a:bodyPr/>
        <a:lstStyle/>
        <a:p>
          <a:r>
            <a:rPr lang="fr-FR" dirty="0" err="1"/>
            <a:t>xz</a:t>
          </a:r>
          <a:r>
            <a:rPr lang="fr-FR" dirty="0"/>
            <a:t> : plus lent, meilleure compression</a:t>
          </a:r>
          <a:endParaRPr lang="en-US" dirty="0"/>
        </a:p>
      </dgm:t>
    </dgm:pt>
    <dgm:pt modelId="{8B12C3F8-A92A-4CC2-B798-B1F4EF33FAB6}" type="parTrans" cxnId="{8D5FDD5A-15B2-4DC4-A640-00DB0E795B14}">
      <dgm:prSet/>
      <dgm:spPr/>
      <dgm:t>
        <a:bodyPr/>
        <a:lstStyle/>
        <a:p>
          <a:endParaRPr lang="en-US"/>
        </a:p>
      </dgm:t>
    </dgm:pt>
    <dgm:pt modelId="{665CEEC2-4FD7-4C27-846B-9A4F4AF0639E}" type="sibTrans" cxnId="{8D5FDD5A-15B2-4DC4-A640-00DB0E795B14}">
      <dgm:prSet/>
      <dgm:spPr/>
      <dgm:t>
        <a:bodyPr/>
        <a:lstStyle/>
        <a:p>
          <a:endParaRPr lang="en-US"/>
        </a:p>
      </dgm:t>
    </dgm:pt>
    <dgm:pt modelId="{F738004F-ACBC-458E-9C58-CC2803BBF35C}" type="pres">
      <dgm:prSet presAssocID="{7D7BC633-80CC-41C3-8A75-92911D1740EC}" presName="linear" presStyleCnt="0">
        <dgm:presLayoutVars>
          <dgm:animLvl val="lvl"/>
          <dgm:resizeHandles val="exact"/>
        </dgm:presLayoutVars>
      </dgm:prSet>
      <dgm:spPr/>
    </dgm:pt>
    <dgm:pt modelId="{472EABBE-1D6D-4DB5-B637-85CC131ECB67}" type="pres">
      <dgm:prSet presAssocID="{0D21E920-EACB-4E6D-B65E-855D0112882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4270227-5A43-4ED7-B825-17ADCF2D07E2}" type="pres">
      <dgm:prSet presAssocID="{0D21E920-EACB-4E6D-B65E-855D0112882F}" presName="childText" presStyleLbl="revTx" presStyleIdx="0" presStyleCnt="2">
        <dgm:presLayoutVars>
          <dgm:bulletEnabled val="1"/>
        </dgm:presLayoutVars>
      </dgm:prSet>
      <dgm:spPr/>
    </dgm:pt>
    <dgm:pt modelId="{B40B46FF-08EC-437E-9D05-9D1A40923CA9}" type="pres">
      <dgm:prSet presAssocID="{567BBB26-0642-462F-BE58-05F19028E29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C4DA358-5BEA-4BF4-A878-A88EB1C4845B}" type="pres">
      <dgm:prSet presAssocID="{567BBB26-0642-462F-BE58-05F19028E29A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474D7D01-4823-44EF-91E4-9E771DE91A04}" type="presOf" srcId="{516BC857-2A71-417C-A6FC-C917C71A53B9}" destId="{1C4DA358-5BEA-4BF4-A878-A88EB1C4845B}" srcOrd="0" destOrd="1" presId="urn:microsoft.com/office/officeart/2005/8/layout/vList2"/>
    <dgm:cxn modelId="{8153DE0E-9C1D-4DCA-AAC8-7831D89676E5}" srcId="{0D21E920-EACB-4E6D-B65E-855D0112882F}" destId="{7C564010-B693-4F6A-85A1-2EEF62BA1581}" srcOrd="0" destOrd="0" parTransId="{23017C00-FEBD-48A2-BA90-600854C1FDBC}" sibTransId="{04529FBD-2E8C-4ED4-B53B-FFE22F250822}"/>
    <dgm:cxn modelId="{10BDDF25-049A-4B53-9D0F-8B9B4B54BB6B}" srcId="{567BBB26-0642-462F-BE58-05F19028E29A}" destId="{516BC857-2A71-417C-A6FC-C917C71A53B9}" srcOrd="1" destOrd="0" parTransId="{C2EF9579-92C7-4CD3-BD3C-DEAD675D38D8}" sibTransId="{D4BDB1A7-FF3B-4755-8BF2-233931DFF980}"/>
    <dgm:cxn modelId="{5607C72E-00EF-4D61-9F39-10F11C324AAB}" srcId="{7D7BC633-80CC-41C3-8A75-92911D1740EC}" destId="{0D21E920-EACB-4E6D-B65E-855D0112882F}" srcOrd="0" destOrd="0" parTransId="{A025348C-E48D-4B13-8A36-66F964D1B684}" sibTransId="{CC746CA9-9604-4D55-A387-BA3D0456056C}"/>
    <dgm:cxn modelId="{7E6CF637-101F-4D67-833E-18385988A3A8}" type="presOf" srcId="{F7C202E5-DA0C-4805-BCE4-DCF9E2FACD4E}" destId="{14270227-5A43-4ED7-B825-17ADCF2D07E2}" srcOrd="0" destOrd="2" presId="urn:microsoft.com/office/officeart/2005/8/layout/vList2"/>
    <dgm:cxn modelId="{D875724E-B33B-43AA-BEDE-104E39CE5B88}" srcId="{0D21E920-EACB-4E6D-B65E-855D0112882F}" destId="{465714CD-3618-4174-A77B-8602476BC244}" srcOrd="1" destOrd="0" parTransId="{E6982B54-6BE4-42C4-B613-C0AD44A45F5A}" sibTransId="{EFEF520E-2C5F-42E8-B2A1-9BD9091B4AAA}"/>
    <dgm:cxn modelId="{651AB852-4F90-4C39-937D-280F8067A223}" type="presOf" srcId="{0D21E920-EACB-4E6D-B65E-855D0112882F}" destId="{472EABBE-1D6D-4DB5-B637-85CC131ECB67}" srcOrd="0" destOrd="0" presId="urn:microsoft.com/office/officeart/2005/8/layout/vList2"/>
    <dgm:cxn modelId="{8D5FDD5A-15B2-4DC4-A640-00DB0E795B14}" srcId="{567BBB26-0642-462F-BE58-05F19028E29A}" destId="{B1F64C37-926D-405C-9103-FBFF3E6F1E57}" srcOrd="2" destOrd="0" parTransId="{8B12C3F8-A92A-4CC2-B798-B1F4EF33FAB6}" sibTransId="{665CEEC2-4FD7-4C27-846B-9A4F4AF0639E}"/>
    <dgm:cxn modelId="{850D0F7B-A34D-4AAE-9633-CA8377B8D8CC}" srcId="{0D21E920-EACB-4E6D-B65E-855D0112882F}" destId="{F7C202E5-DA0C-4805-BCE4-DCF9E2FACD4E}" srcOrd="2" destOrd="0" parTransId="{2F649E69-54D0-41D4-86C4-2D4A516C45F0}" sibTransId="{2A9BB77F-B11D-4639-BB7F-76CE69EBB532}"/>
    <dgm:cxn modelId="{7595149B-6D1A-4550-9AAD-B01D128F2011}" srcId="{567BBB26-0642-462F-BE58-05F19028E29A}" destId="{C50B721A-516D-4085-BEDB-B0D1A3CCFD9C}" srcOrd="0" destOrd="0" parTransId="{7D3F7E4A-A87B-41F3-ACB6-B73DF2361C6E}" sibTransId="{36740029-02F6-49A7-958D-EA163F7E4C5D}"/>
    <dgm:cxn modelId="{9C67B6B0-B29C-469D-AE97-456F50D69A37}" srcId="{7D7BC633-80CC-41C3-8A75-92911D1740EC}" destId="{567BBB26-0642-462F-BE58-05F19028E29A}" srcOrd="1" destOrd="0" parTransId="{33B40782-E7CE-4760-8EB6-3CBC2779F813}" sibTransId="{066F09A8-D360-4F54-AB74-E4769449F034}"/>
    <dgm:cxn modelId="{62777DBA-0E51-4FF3-B0EC-512929175C40}" type="presOf" srcId="{7D7BC633-80CC-41C3-8A75-92911D1740EC}" destId="{F738004F-ACBC-458E-9C58-CC2803BBF35C}" srcOrd="0" destOrd="0" presId="urn:microsoft.com/office/officeart/2005/8/layout/vList2"/>
    <dgm:cxn modelId="{24C85BBC-EC7A-48BB-9822-CEB62EC6B269}" type="presOf" srcId="{7C564010-B693-4F6A-85A1-2EEF62BA1581}" destId="{14270227-5A43-4ED7-B825-17ADCF2D07E2}" srcOrd="0" destOrd="0" presId="urn:microsoft.com/office/officeart/2005/8/layout/vList2"/>
    <dgm:cxn modelId="{27BB39C5-D27B-4C92-B7E2-CD64F9AD4572}" type="presOf" srcId="{465714CD-3618-4174-A77B-8602476BC244}" destId="{14270227-5A43-4ED7-B825-17ADCF2D07E2}" srcOrd="0" destOrd="1" presId="urn:microsoft.com/office/officeart/2005/8/layout/vList2"/>
    <dgm:cxn modelId="{2BF12FC9-A64E-4C74-98D5-0B263AA5352D}" type="presOf" srcId="{B1F64C37-926D-405C-9103-FBFF3E6F1E57}" destId="{1C4DA358-5BEA-4BF4-A878-A88EB1C4845B}" srcOrd="0" destOrd="2" presId="urn:microsoft.com/office/officeart/2005/8/layout/vList2"/>
    <dgm:cxn modelId="{FF823AE8-A4BB-49C2-B756-9D5B82A97269}" type="presOf" srcId="{567BBB26-0642-462F-BE58-05F19028E29A}" destId="{B40B46FF-08EC-437E-9D05-9D1A40923CA9}" srcOrd="0" destOrd="0" presId="urn:microsoft.com/office/officeart/2005/8/layout/vList2"/>
    <dgm:cxn modelId="{5B8119FA-B0F5-48B0-976A-251CD28A54D1}" type="presOf" srcId="{C50B721A-516D-4085-BEDB-B0D1A3CCFD9C}" destId="{1C4DA358-5BEA-4BF4-A878-A88EB1C4845B}" srcOrd="0" destOrd="0" presId="urn:microsoft.com/office/officeart/2005/8/layout/vList2"/>
    <dgm:cxn modelId="{AA3218F6-A69E-4EFD-BC5D-DBAE485BB2FE}" type="presParOf" srcId="{F738004F-ACBC-458E-9C58-CC2803BBF35C}" destId="{472EABBE-1D6D-4DB5-B637-85CC131ECB67}" srcOrd="0" destOrd="0" presId="urn:microsoft.com/office/officeart/2005/8/layout/vList2"/>
    <dgm:cxn modelId="{ABB6A62E-90EA-4448-8586-248B03D1511E}" type="presParOf" srcId="{F738004F-ACBC-458E-9C58-CC2803BBF35C}" destId="{14270227-5A43-4ED7-B825-17ADCF2D07E2}" srcOrd="1" destOrd="0" presId="urn:microsoft.com/office/officeart/2005/8/layout/vList2"/>
    <dgm:cxn modelId="{88806DAB-DF96-437B-ADE9-0FCF6210202E}" type="presParOf" srcId="{F738004F-ACBC-458E-9C58-CC2803BBF35C}" destId="{B40B46FF-08EC-437E-9D05-9D1A40923CA9}" srcOrd="2" destOrd="0" presId="urn:microsoft.com/office/officeart/2005/8/layout/vList2"/>
    <dgm:cxn modelId="{7D88BDC5-AD00-474A-AFFD-0636F60F08D2}" type="presParOf" srcId="{F738004F-ACBC-458E-9C58-CC2803BBF35C}" destId="{1C4DA358-5BEA-4BF4-A878-A88EB1C4845B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A99937-A275-4AD8-B463-CD4F1A45D62A}">
      <dsp:nvSpPr>
        <dsp:cNvPr id="0" name=""/>
        <dsp:cNvSpPr/>
      </dsp:nvSpPr>
      <dsp:spPr>
        <a:xfrm>
          <a:off x="0" y="721579"/>
          <a:ext cx="5906181" cy="7160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/>
            <a:t>Comprendre et manipuler les commandes d'archivage et de compression (tar, gzip, bzip2, xz).</a:t>
          </a:r>
          <a:endParaRPr lang="en-US" sz="1800" kern="1200"/>
        </a:p>
      </dsp:txBody>
      <dsp:txXfrm>
        <a:off x="34954" y="756533"/>
        <a:ext cx="5836273" cy="646132"/>
      </dsp:txXfrm>
    </dsp:sp>
    <dsp:sp modelId="{88B9AA1F-590D-4833-836C-1E3B9EB2EFD9}">
      <dsp:nvSpPr>
        <dsp:cNvPr id="0" name=""/>
        <dsp:cNvSpPr/>
      </dsp:nvSpPr>
      <dsp:spPr>
        <a:xfrm>
          <a:off x="0" y="1489459"/>
          <a:ext cx="5906181" cy="716040"/>
        </a:xfrm>
        <a:prstGeom prst="roundRect">
          <a:avLst/>
        </a:prstGeom>
        <a:solidFill>
          <a:schemeClr val="accent2">
            <a:hueOff val="686585"/>
            <a:satOff val="-12202"/>
            <a:lumOff val="3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Explorer la hiérarchie des fichiers sous Linux (FHS) et localiser des fichiers systèmes courants.</a:t>
          </a:r>
          <a:endParaRPr lang="en-US" sz="1800" kern="1200" dirty="0"/>
        </a:p>
      </dsp:txBody>
      <dsp:txXfrm>
        <a:off x="34954" y="1524413"/>
        <a:ext cx="5836273" cy="646132"/>
      </dsp:txXfrm>
    </dsp:sp>
    <dsp:sp modelId="{7BC165C3-EBCA-4CF4-96B9-61144BADDC26}">
      <dsp:nvSpPr>
        <dsp:cNvPr id="0" name=""/>
        <dsp:cNvSpPr/>
      </dsp:nvSpPr>
      <dsp:spPr>
        <a:xfrm>
          <a:off x="0" y="2257339"/>
          <a:ext cx="5906181" cy="716040"/>
        </a:xfrm>
        <a:prstGeom prst="roundRect">
          <a:avLst/>
        </a:prstGeom>
        <a:solidFill>
          <a:schemeClr val="accent2">
            <a:hueOff val="1373170"/>
            <a:satOff val="-24404"/>
            <a:lumOff val="78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/>
            <a:t>Expérimenter avec la mise à jour et la modification d'archives sans les recréer entièrement.</a:t>
          </a:r>
          <a:endParaRPr lang="en-US" sz="1800" kern="1200"/>
        </a:p>
      </dsp:txBody>
      <dsp:txXfrm>
        <a:off x="34954" y="2292293"/>
        <a:ext cx="5836273" cy="646132"/>
      </dsp:txXfrm>
    </dsp:sp>
    <dsp:sp modelId="{770664F5-CD3B-42CA-A155-894ACFE573CB}">
      <dsp:nvSpPr>
        <dsp:cNvPr id="0" name=""/>
        <dsp:cNvSpPr/>
      </dsp:nvSpPr>
      <dsp:spPr>
        <a:xfrm>
          <a:off x="0" y="3025219"/>
          <a:ext cx="5906181" cy="716040"/>
        </a:xfrm>
        <a:prstGeom prst="roundRect">
          <a:avLst/>
        </a:prstGeom>
        <a:solidFill>
          <a:schemeClr val="accent2">
            <a:hueOff val="2059755"/>
            <a:satOff val="-36606"/>
            <a:lumOff val="1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/>
            <a:t>Comparer les performances des différents outils de compression.</a:t>
          </a:r>
          <a:endParaRPr lang="en-US" sz="1800" kern="1200"/>
        </a:p>
      </dsp:txBody>
      <dsp:txXfrm>
        <a:off x="34954" y="3060173"/>
        <a:ext cx="5836273" cy="646132"/>
      </dsp:txXfrm>
    </dsp:sp>
    <dsp:sp modelId="{4D2A6394-B30F-4910-BE25-5135EFF06CCD}">
      <dsp:nvSpPr>
        <dsp:cNvPr id="0" name=""/>
        <dsp:cNvSpPr/>
      </dsp:nvSpPr>
      <dsp:spPr>
        <a:xfrm>
          <a:off x="0" y="3793099"/>
          <a:ext cx="5906181" cy="716040"/>
        </a:xfrm>
        <a:prstGeom prst="roundRect">
          <a:avLst/>
        </a:prstGeom>
        <a:solidFill>
          <a:schemeClr val="accent2">
            <a:hueOff val="2746340"/>
            <a:satOff val="-48808"/>
            <a:lumOff val="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Renforcer les compétences sur la gestion des fichiers et des répertoires dans un environnement Linux.</a:t>
          </a:r>
          <a:endParaRPr lang="en-US" sz="1800" kern="1200" dirty="0"/>
        </a:p>
      </dsp:txBody>
      <dsp:txXfrm>
        <a:off x="34954" y="3828053"/>
        <a:ext cx="5836273" cy="6461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2EABBE-1D6D-4DB5-B637-85CC131ECB67}">
      <dsp:nvSpPr>
        <dsp:cNvPr id="0" name=""/>
        <dsp:cNvSpPr/>
      </dsp:nvSpPr>
      <dsp:spPr>
        <a:xfrm>
          <a:off x="0" y="213444"/>
          <a:ext cx="5906181" cy="111230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800" kern="1200"/>
            <a:t>Outils de compression</a:t>
          </a:r>
          <a:endParaRPr lang="en-US" sz="2800" kern="1200"/>
        </a:p>
      </dsp:txBody>
      <dsp:txXfrm>
        <a:off x="54298" y="267742"/>
        <a:ext cx="5797585" cy="1003708"/>
      </dsp:txXfrm>
    </dsp:sp>
    <dsp:sp modelId="{14270227-5A43-4ED7-B825-17ADCF2D07E2}">
      <dsp:nvSpPr>
        <dsp:cNvPr id="0" name=""/>
        <dsp:cNvSpPr/>
      </dsp:nvSpPr>
      <dsp:spPr>
        <a:xfrm>
          <a:off x="0" y="1325749"/>
          <a:ext cx="5906181" cy="1130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7521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CA" sz="2200" kern="1200" dirty="0" err="1"/>
            <a:t>gzip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CA" sz="2200" kern="1200" dirty="0"/>
            <a:t>bzip2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CA" sz="2200" kern="1200" dirty="0" err="1"/>
            <a:t>xz</a:t>
          </a:r>
          <a:endParaRPr lang="en-US" sz="2200" kern="1200" dirty="0"/>
        </a:p>
      </dsp:txBody>
      <dsp:txXfrm>
        <a:off x="0" y="1325749"/>
        <a:ext cx="5906181" cy="1130220"/>
      </dsp:txXfrm>
    </dsp:sp>
    <dsp:sp modelId="{B40B46FF-08EC-437E-9D05-9D1A40923CA9}">
      <dsp:nvSpPr>
        <dsp:cNvPr id="0" name=""/>
        <dsp:cNvSpPr/>
      </dsp:nvSpPr>
      <dsp:spPr>
        <a:xfrm>
          <a:off x="0" y="2455969"/>
          <a:ext cx="5906181" cy="1112304"/>
        </a:xfrm>
        <a:prstGeom prst="roundRect">
          <a:avLst/>
        </a:prstGeom>
        <a:solidFill>
          <a:schemeClr val="accent2">
            <a:hueOff val="2746340"/>
            <a:satOff val="-48808"/>
            <a:lumOff val="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800" kern="1200"/>
            <a:t>Différences entre algorithmes de compression:</a:t>
          </a:r>
          <a:endParaRPr lang="en-US" sz="2800" kern="1200"/>
        </a:p>
      </dsp:txBody>
      <dsp:txXfrm>
        <a:off x="54298" y="2510267"/>
        <a:ext cx="5797585" cy="1003708"/>
      </dsp:txXfrm>
    </dsp:sp>
    <dsp:sp modelId="{1C4DA358-5BEA-4BF4-A878-A88EB1C4845B}">
      <dsp:nvSpPr>
        <dsp:cNvPr id="0" name=""/>
        <dsp:cNvSpPr/>
      </dsp:nvSpPr>
      <dsp:spPr>
        <a:xfrm>
          <a:off x="0" y="3568273"/>
          <a:ext cx="5906181" cy="1449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7521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2200" kern="1200"/>
            <a:t>gzip : rapide, moins efficace en compression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2200" kern="1200"/>
            <a:t>bzip2 : plus lent, meilleure compression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2200" kern="1200" dirty="0" err="1"/>
            <a:t>xz</a:t>
          </a:r>
          <a:r>
            <a:rPr lang="fr-FR" sz="2200" kern="1200" dirty="0"/>
            <a:t> : plus lent, meilleure compression</a:t>
          </a:r>
          <a:endParaRPr lang="en-US" sz="2200" kern="1200" dirty="0"/>
        </a:p>
      </dsp:txBody>
      <dsp:txXfrm>
        <a:off x="0" y="3568273"/>
        <a:ext cx="5906181" cy="1449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2/18/2025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344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400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960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987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2/18/2025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686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2/18/2025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967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2/18/2025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824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2/18/2025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863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91304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008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999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215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inf1070.uqam.ca/03-fichiers.pdf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e.kahoot.it/share/inf1070-lab-6-archive-compression-et-fhs/af780b98-3fc9-49eb-9f33-ef9731115098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9F73848-91FE-4D29-B0DC-BFC408416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-839"/>
            <a:ext cx="12191980" cy="6858000"/>
          </a:xfrm>
          <a:prstGeom prst="rect">
            <a:avLst/>
          </a:prstGeom>
        </p:spPr>
      </p:pic>
      <p:sp>
        <p:nvSpPr>
          <p:cNvPr id="89" name="Rectangle 88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1630907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INF1070 Lab 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3" y="3995988"/>
            <a:ext cx="4775075" cy="55965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George Fam</a:t>
            </a:r>
          </a:p>
        </p:txBody>
      </p:sp>
    </p:spTree>
    <p:extLst>
      <p:ext uri="{BB962C8B-B14F-4D97-AF65-F5344CB8AC3E}">
        <p14:creationId xmlns:p14="http://schemas.microsoft.com/office/powerpoint/2010/main" val="42696815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2AD6B69-E0A0-476D-9EE1-6B69F04C5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BE10A1-AD5F-4AB3-8A94-41D62B494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C9295F-E638-4F61-AFE2-CF3E40556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dirty="0" err="1"/>
              <a:t>Objectifs</a:t>
            </a:r>
            <a:endParaRPr lang="en-US" sz="48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84BFFE-6A90-4311-ACD5-B34177D46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4122323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graphicFrame>
        <p:nvGraphicFramePr>
          <p:cNvPr id="10" name="TextBox 7">
            <a:extLst>
              <a:ext uri="{FF2B5EF4-FFF2-40B4-BE49-F238E27FC236}">
                <a16:creationId xmlns:a16="http://schemas.microsoft.com/office/drawing/2014/main" id="{5190B7FD-4B99-C239-3D37-55595397A2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7167733"/>
              </p:ext>
            </p:extLst>
          </p:nvPr>
        </p:nvGraphicFramePr>
        <p:xfrm>
          <a:off x="5478124" y="800947"/>
          <a:ext cx="5906181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49548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D15573D-0E45-4691-B525-471152EC1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448559-19A4-4252-8C27-54C1DA906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19C35E-4E30-4F1D-9FC2-F2FA6191E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819" y="466344"/>
            <a:ext cx="3959352" cy="592531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3311D0-3302-98BE-489F-80C88049B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40" y="875324"/>
            <a:ext cx="3536510" cy="5093520"/>
          </a:xfrm>
        </p:spPr>
        <p:txBody>
          <a:bodyPr>
            <a:normAutofit/>
          </a:bodyPr>
          <a:lstStyle/>
          <a:p>
            <a:pPr algn="ctr"/>
            <a:r>
              <a:rPr lang="fr-FR" sz="4400" dirty="0">
                <a:solidFill>
                  <a:schemeClr val="tx1"/>
                </a:solidFill>
              </a:rPr>
              <a:t>Création et manipulation d'archives tar</a:t>
            </a:r>
            <a:endParaRPr lang="en-CA" sz="44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46274-420B-42E8-B9FA-336C36979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8124" y="559477"/>
            <a:ext cx="5647076" cy="5475563"/>
          </a:xfrm>
        </p:spPr>
        <p:txBody>
          <a:bodyPr anchor="ctr">
            <a:normAutofit/>
          </a:bodyPr>
          <a:lstStyle/>
          <a:p>
            <a:r>
              <a:rPr lang="fr-FR" sz="2000" dirty="0"/>
              <a:t>tar (Tape </a:t>
            </a:r>
            <a:r>
              <a:rPr lang="fr-FR" sz="2000" dirty="0" err="1"/>
              <a:t>ARchiver</a:t>
            </a:r>
            <a:r>
              <a:rPr lang="fr-FR" sz="2000" dirty="0"/>
              <a:t>) : un outil pour regrouper plusieurs fichiers en une archive.</a:t>
            </a:r>
          </a:p>
          <a:p>
            <a:pPr lvl="1"/>
            <a:r>
              <a:rPr lang="fr-FR" sz="2000" dirty="0"/>
              <a:t>Options courantes:</a:t>
            </a:r>
          </a:p>
          <a:p>
            <a:pPr lvl="2"/>
            <a:r>
              <a:rPr lang="fr-FR" sz="2000" dirty="0"/>
              <a:t>-c : création d'une archive</a:t>
            </a:r>
          </a:p>
          <a:p>
            <a:pPr lvl="2"/>
            <a:r>
              <a:rPr lang="fr-FR" sz="2000" dirty="0"/>
              <a:t>-t : affichage du contenu d'une archive</a:t>
            </a:r>
          </a:p>
          <a:p>
            <a:pPr lvl="2"/>
            <a:r>
              <a:rPr lang="fr-FR" sz="2000" dirty="0"/>
              <a:t>-x : extraction d'une archive</a:t>
            </a:r>
          </a:p>
          <a:p>
            <a:pPr lvl="2"/>
            <a:r>
              <a:rPr lang="fr-FR" sz="2000" dirty="0"/>
              <a:t>-u : mise à jour d'une archive existante</a:t>
            </a:r>
          </a:p>
          <a:p>
            <a:pPr lvl="2"/>
            <a:r>
              <a:rPr lang="fr-FR" sz="2000" dirty="0"/>
              <a:t>-r : ajout de fichiers à la fin d'une archive</a:t>
            </a:r>
          </a:p>
          <a:p>
            <a:pPr lvl="2"/>
            <a:r>
              <a:rPr lang="fr-FR" sz="2000" dirty="0"/>
              <a:t>--</a:t>
            </a:r>
            <a:r>
              <a:rPr lang="fr-FR" sz="2000" dirty="0" err="1"/>
              <a:t>delete</a:t>
            </a:r>
            <a:r>
              <a:rPr lang="fr-FR" sz="2000" dirty="0"/>
              <a:t> : suppression d’un fichier d’une archive</a:t>
            </a:r>
          </a:p>
          <a:p>
            <a:pPr lvl="2"/>
            <a:r>
              <a:rPr lang="fr-FR" sz="2000" dirty="0"/>
              <a:t>-f : spécifie le fichier archive</a:t>
            </a:r>
          </a:p>
          <a:p>
            <a:pPr lvl="2"/>
            <a:r>
              <a:rPr lang="fr-FR" sz="2000" dirty="0"/>
              <a:t>-v : mode verbeux (</a:t>
            </a:r>
            <a:r>
              <a:rPr lang="fr-FR" sz="2000" dirty="0" err="1"/>
              <a:t>verbose</a:t>
            </a:r>
            <a:r>
              <a:rPr lang="fr-FR" sz="2000" dirty="0"/>
              <a:t>)</a:t>
            </a: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3158257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2AD6B69-E0A0-476D-9EE1-6B69F04C5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BE10A1-AD5F-4AB3-8A94-41D62B494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A1712C-C544-4F5A-BDC2-876AFB9B8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en-CA" dirty="0"/>
              <a:t>Compression </a:t>
            </a:r>
            <a:r>
              <a:rPr lang="en-CA" dirty="0" err="1"/>
              <a:t>d'archives</a:t>
            </a:r>
            <a:endParaRPr lang="en-CA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84BFFE-6A90-4311-ACD5-B34177D46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4122323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C5A7B0-F066-5657-3B7A-B753FC3F7D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1205958"/>
              </p:ext>
            </p:extLst>
          </p:nvPr>
        </p:nvGraphicFramePr>
        <p:xfrm>
          <a:off x="5478124" y="800947"/>
          <a:ext cx="5906181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0539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D15573D-0E45-4691-B525-471152EC1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448559-19A4-4252-8C27-54C1DA906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19C35E-4E30-4F1D-9FC2-F2FA6191E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819" y="466344"/>
            <a:ext cx="3959352" cy="592531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35668F-12D7-E346-4536-048367640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40" y="875324"/>
            <a:ext cx="3536510" cy="5093520"/>
          </a:xfrm>
        </p:spPr>
        <p:txBody>
          <a:bodyPr>
            <a:normAutofit/>
          </a:bodyPr>
          <a:lstStyle/>
          <a:p>
            <a:pPr algn="ctr"/>
            <a:r>
              <a:rPr lang="fr-FR" sz="4400" dirty="0">
                <a:solidFill>
                  <a:schemeClr val="tx1"/>
                </a:solidFill>
              </a:rPr>
              <a:t>Hiérarchie FHS (Pt. 1) </a:t>
            </a:r>
            <a:endParaRPr lang="en-CA" sz="44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A017E-E175-2FAF-4383-9DAE4AB20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8123" y="559477"/>
            <a:ext cx="6092553" cy="547556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fr-FR" sz="1900" b="1" dirty="0"/>
              <a:t>Filesystem </a:t>
            </a:r>
            <a:r>
              <a:rPr lang="fr-FR" sz="1900" b="1" dirty="0" err="1"/>
              <a:t>Hierarchy</a:t>
            </a:r>
            <a:r>
              <a:rPr lang="fr-FR" sz="1900" b="1" dirty="0"/>
              <a:t> Standard (FHS)</a:t>
            </a:r>
            <a:r>
              <a:rPr lang="fr-FR" sz="1900" dirty="0"/>
              <a:t> : Organisation standard des fichiers sous Linux.</a:t>
            </a:r>
          </a:p>
          <a:p>
            <a:pPr lvl="1">
              <a:lnSpc>
                <a:spcPct val="90000"/>
              </a:lnSpc>
            </a:pPr>
            <a:r>
              <a:rPr lang="fr-FR" sz="1900" b="1" dirty="0"/>
              <a:t>/bin commandes minimalement nécessaires</a:t>
            </a:r>
          </a:p>
          <a:p>
            <a:pPr lvl="1">
              <a:lnSpc>
                <a:spcPct val="90000"/>
              </a:lnSpc>
            </a:pPr>
            <a:r>
              <a:rPr lang="fr-FR" sz="1900" b="1" dirty="0"/>
              <a:t>/boot chargeur d’amorçage et noyau</a:t>
            </a:r>
          </a:p>
          <a:p>
            <a:pPr lvl="1">
              <a:lnSpc>
                <a:spcPct val="90000"/>
              </a:lnSpc>
            </a:pPr>
            <a:r>
              <a:rPr lang="fr-FR" sz="1900" dirty="0"/>
              <a:t>/dev fichiers de périphériques</a:t>
            </a:r>
          </a:p>
          <a:p>
            <a:pPr lvl="1">
              <a:lnSpc>
                <a:spcPct val="90000"/>
              </a:lnSpc>
            </a:pPr>
            <a:r>
              <a:rPr lang="fr-FR" sz="1900" b="1" dirty="0"/>
              <a:t>/</a:t>
            </a:r>
            <a:r>
              <a:rPr lang="fr-FR" sz="1900" b="1" dirty="0" err="1"/>
              <a:t>etc</a:t>
            </a:r>
            <a:r>
              <a:rPr lang="fr-FR" sz="1900" b="1" dirty="0"/>
              <a:t> fichiers de configuration</a:t>
            </a:r>
          </a:p>
          <a:p>
            <a:pPr lvl="1">
              <a:lnSpc>
                <a:spcPct val="90000"/>
              </a:lnSpc>
            </a:pPr>
            <a:r>
              <a:rPr lang="fr-FR" sz="1900" b="1" dirty="0"/>
              <a:t>/home répertoires des utilisateurs</a:t>
            </a:r>
          </a:p>
          <a:p>
            <a:pPr lvl="1">
              <a:lnSpc>
                <a:spcPct val="90000"/>
              </a:lnSpc>
            </a:pPr>
            <a:r>
              <a:rPr lang="fr-FR" sz="1900" dirty="0"/>
              <a:t>/lib bibliothèques pour /bin et /</a:t>
            </a:r>
            <a:r>
              <a:rPr lang="fr-FR" sz="1900" dirty="0" err="1"/>
              <a:t>sbin</a:t>
            </a:r>
            <a:endParaRPr lang="fr-FR" sz="1900" dirty="0"/>
          </a:p>
          <a:p>
            <a:pPr lvl="1">
              <a:lnSpc>
                <a:spcPct val="90000"/>
              </a:lnSpc>
            </a:pPr>
            <a:r>
              <a:rPr lang="fr-FR" sz="1900" dirty="0"/>
              <a:t>/media points de montage pour médias amovibles</a:t>
            </a:r>
          </a:p>
          <a:p>
            <a:pPr lvl="1">
              <a:lnSpc>
                <a:spcPct val="90000"/>
              </a:lnSpc>
            </a:pPr>
            <a:r>
              <a:rPr lang="fr-FR" sz="1900" dirty="0"/>
              <a:t>/mnt points de montage temporaires</a:t>
            </a:r>
          </a:p>
          <a:p>
            <a:pPr lvl="1">
              <a:lnSpc>
                <a:spcPct val="90000"/>
              </a:lnSpc>
            </a:pPr>
            <a:r>
              <a:rPr lang="fr-FR" sz="1900" dirty="0"/>
              <a:t>/</a:t>
            </a:r>
            <a:r>
              <a:rPr lang="fr-FR" sz="1900" dirty="0" err="1"/>
              <a:t>opt</a:t>
            </a:r>
            <a:r>
              <a:rPr lang="fr-FR" sz="1900" dirty="0"/>
              <a:t> logiciels optionnels</a:t>
            </a:r>
          </a:p>
          <a:p>
            <a:pPr lvl="1">
              <a:lnSpc>
                <a:spcPct val="90000"/>
              </a:lnSpc>
            </a:pPr>
            <a:r>
              <a:rPr lang="fr-FR" sz="1900" dirty="0"/>
              <a:t>/proc interface avec le noyau et les processus (pas FHS)</a:t>
            </a:r>
          </a:p>
          <a:p>
            <a:pPr lvl="1">
              <a:lnSpc>
                <a:spcPct val="90000"/>
              </a:lnSpc>
            </a:pPr>
            <a:r>
              <a:rPr lang="fr-FR" sz="1900" b="1" dirty="0"/>
              <a:t>/root répertoire du super-utilisateur</a:t>
            </a:r>
          </a:p>
          <a:p>
            <a:pPr lvl="1">
              <a:lnSpc>
                <a:spcPct val="90000"/>
              </a:lnSpc>
            </a:pPr>
            <a:endParaRPr lang="en-CA" sz="1900" b="1" dirty="0"/>
          </a:p>
        </p:txBody>
      </p:sp>
    </p:spTree>
    <p:extLst>
      <p:ext uri="{BB962C8B-B14F-4D97-AF65-F5344CB8AC3E}">
        <p14:creationId xmlns:p14="http://schemas.microsoft.com/office/powerpoint/2010/main" val="3988354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151296-FBFC-ACBA-3F0D-BE55F8947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6FDED3C-9C96-4BE9-786B-D3192FC62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76A019-227F-4EC2-20BC-FC1D5857A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3AB8CA-9B6D-414E-6D7D-52125661A1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819" y="466344"/>
            <a:ext cx="3959352" cy="592531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7E0117-BA72-C969-61D3-8A0C89B5C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40" y="875324"/>
            <a:ext cx="3536510" cy="5093520"/>
          </a:xfrm>
        </p:spPr>
        <p:txBody>
          <a:bodyPr>
            <a:normAutofit/>
          </a:bodyPr>
          <a:lstStyle/>
          <a:p>
            <a:pPr algn="ctr"/>
            <a:r>
              <a:rPr lang="fr-FR" sz="4400" dirty="0">
                <a:solidFill>
                  <a:schemeClr val="tx1"/>
                </a:solidFill>
              </a:rPr>
              <a:t>Hiérarchie FHS (Pt. 2) </a:t>
            </a:r>
            <a:endParaRPr lang="en-CA" sz="44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08521-BFD6-FF22-CD4D-07081ABDF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8123" y="559477"/>
            <a:ext cx="6092553" cy="583217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fr-FR" sz="1900" b="1" dirty="0"/>
              <a:t>Filesystem </a:t>
            </a:r>
            <a:r>
              <a:rPr lang="fr-FR" sz="1900" b="1" dirty="0" err="1"/>
              <a:t>Hierarchy</a:t>
            </a:r>
            <a:r>
              <a:rPr lang="fr-FR" sz="1900" b="1" dirty="0"/>
              <a:t> Standard (FHS)</a:t>
            </a:r>
            <a:r>
              <a:rPr lang="fr-FR" sz="1900" dirty="0"/>
              <a:t> : Organisation standard des fichiers sous Linux.</a:t>
            </a:r>
          </a:p>
          <a:p>
            <a:pPr lvl="1">
              <a:lnSpc>
                <a:spcPct val="90000"/>
              </a:lnSpc>
            </a:pPr>
            <a:r>
              <a:rPr lang="fr-FR" sz="1900" dirty="0"/>
              <a:t>/run données d’exécution</a:t>
            </a:r>
          </a:p>
          <a:p>
            <a:pPr lvl="1">
              <a:lnSpc>
                <a:spcPct val="90000"/>
              </a:lnSpc>
            </a:pPr>
            <a:r>
              <a:rPr lang="fr-FR" sz="1900" b="1" dirty="0"/>
              <a:t>/</a:t>
            </a:r>
            <a:r>
              <a:rPr lang="fr-FR" sz="1900" b="1" dirty="0" err="1"/>
              <a:t>sbin</a:t>
            </a:r>
            <a:r>
              <a:rPr lang="fr-FR" sz="1900" b="1" dirty="0"/>
              <a:t> commandes minimales pour administrateur</a:t>
            </a:r>
          </a:p>
          <a:p>
            <a:pPr lvl="1">
              <a:lnSpc>
                <a:spcPct val="90000"/>
              </a:lnSpc>
            </a:pPr>
            <a:r>
              <a:rPr lang="fr-FR" sz="1900" dirty="0"/>
              <a:t>/</a:t>
            </a:r>
            <a:r>
              <a:rPr lang="fr-FR" sz="1900" dirty="0" err="1"/>
              <a:t>srv</a:t>
            </a:r>
            <a:r>
              <a:rPr lang="fr-FR" sz="1900" dirty="0"/>
              <a:t> données des services</a:t>
            </a:r>
          </a:p>
          <a:p>
            <a:pPr lvl="1">
              <a:lnSpc>
                <a:spcPct val="90000"/>
              </a:lnSpc>
            </a:pPr>
            <a:r>
              <a:rPr lang="fr-FR" sz="1900" dirty="0"/>
              <a:t>/</a:t>
            </a:r>
            <a:r>
              <a:rPr lang="fr-FR" sz="1900" dirty="0" err="1"/>
              <a:t>sys</a:t>
            </a:r>
            <a:r>
              <a:rPr lang="fr-FR" sz="1900" dirty="0"/>
              <a:t> autre interface avec le noyau (pas FHS)</a:t>
            </a:r>
          </a:p>
          <a:p>
            <a:pPr lvl="1">
              <a:lnSpc>
                <a:spcPct val="90000"/>
              </a:lnSpc>
            </a:pPr>
            <a:r>
              <a:rPr lang="fr-FR" sz="1900" dirty="0"/>
              <a:t>/</a:t>
            </a:r>
            <a:r>
              <a:rPr lang="fr-FR" sz="1900" dirty="0" err="1"/>
              <a:t>tmp</a:t>
            </a:r>
            <a:r>
              <a:rPr lang="fr-FR" sz="1900" dirty="0"/>
              <a:t> fichiers temporaires</a:t>
            </a:r>
          </a:p>
          <a:p>
            <a:pPr lvl="1">
              <a:lnSpc>
                <a:spcPct val="90000"/>
              </a:lnSpc>
            </a:pPr>
            <a:r>
              <a:rPr lang="fr-FR" sz="1900" b="1" dirty="0"/>
              <a:t>/</a:t>
            </a:r>
            <a:r>
              <a:rPr lang="fr-FR" sz="1900" b="1" dirty="0" err="1"/>
              <a:t>usr</a:t>
            </a:r>
            <a:r>
              <a:rPr lang="fr-FR" sz="1900" b="1" dirty="0"/>
              <a:t> commandes non minimalement nécessaires</a:t>
            </a:r>
          </a:p>
          <a:p>
            <a:pPr lvl="1">
              <a:lnSpc>
                <a:spcPct val="90000"/>
              </a:lnSpc>
            </a:pPr>
            <a:r>
              <a:rPr lang="fr-FR" sz="1900" b="1" dirty="0"/>
              <a:t>/</a:t>
            </a:r>
            <a:r>
              <a:rPr lang="fr-FR" sz="1900" b="1" dirty="0" err="1"/>
              <a:t>usr</a:t>
            </a:r>
            <a:r>
              <a:rPr lang="fr-FR" sz="1900" b="1" dirty="0"/>
              <a:t>/bin, /</a:t>
            </a:r>
            <a:r>
              <a:rPr lang="fr-FR" sz="1900" b="1" dirty="0" err="1"/>
              <a:t>usr</a:t>
            </a:r>
            <a:r>
              <a:rPr lang="fr-FR" sz="1900" b="1" dirty="0"/>
              <a:t>/lib, /</a:t>
            </a:r>
            <a:r>
              <a:rPr lang="fr-FR" sz="1900" b="1" dirty="0" err="1"/>
              <a:t>usr</a:t>
            </a:r>
            <a:r>
              <a:rPr lang="fr-FR" sz="1900" b="1" dirty="0"/>
              <a:t>/</a:t>
            </a:r>
            <a:r>
              <a:rPr lang="fr-FR" sz="1900" b="1" dirty="0" err="1"/>
              <a:t>sbin</a:t>
            </a:r>
            <a:r>
              <a:rPr lang="fr-FR" sz="1900" b="1" dirty="0"/>
              <a:t> comme pour /</a:t>
            </a:r>
          </a:p>
          <a:p>
            <a:pPr lvl="1">
              <a:lnSpc>
                <a:spcPct val="90000"/>
              </a:lnSpc>
            </a:pPr>
            <a:r>
              <a:rPr lang="fr-FR" sz="1900" dirty="0"/>
              <a:t>/</a:t>
            </a:r>
            <a:r>
              <a:rPr lang="fr-FR" sz="1900" dirty="0" err="1"/>
              <a:t>usr</a:t>
            </a:r>
            <a:r>
              <a:rPr lang="fr-FR" sz="1900" dirty="0"/>
              <a:t>/</a:t>
            </a:r>
            <a:r>
              <a:rPr lang="fr-FR" sz="1900" dirty="0" err="1"/>
              <a:t>include</a:t>
            </a:r>
            <a:r>
              <a:rPr lang="fr-FR" sz="1900" dirty="0"/>
              <a:t> entête des bibliothèques (pour dev)</a:t>
            </a:r>
          </a:p>
          <a:p>
            <a:pPr lvl="1">
              <a:lnSpc>
                <a:spcPct val="90000"/>
              </a:lnSpc>
            </a:pPr>
            <a:r>
              <a:rPr lang="fr-FR" sz="1900" dirty="0"/>
              <a:t>/</a:t>
            </a:r>
            <a:r>
              <a:rPr lang="fr-FR" sz="1900" dirty="0" err="1"/>
              <a:t>usr</a:t>
            </a:r>
            <a:r>
              <a:rPr lang="fr-FR" sz="1900" dirty="0"/>
              <a:t>/</a:t>
            </a:r>
            <a:r>
              <a:rPr lang="fr-FR" sz="1900" dirty="0" err="1"/>
              <a:t>share</a:t>
            </a:r>
            <a:r>
              <a:rPr lang="fr-FR" sz="1900" dirty="0"/>
              <a:t> données indépendantes de l’architecture</a:t>
            </a:r>
          </a:p>
          <a:p>
            <a:pPr lvl="1">
              <a:lnSpc>
                <a:spcPct val="90000"/>
              </a:lnSpc>
            </a:pPr>
            <a:r>
              <a:rPr lang="fr-FR" sz="1900" dirty="0"/>
              <a:t>/</a:t>
            </a:r>
            <a:r>
              <a:rPr lang="fr-FR" sz="1900" dirty="0" err="1"/>
              <a:t>usr</a:t>
            </a:r>
            <a:r>
              <a:rPr lang="fr-FR" sz="1900" dirty="0"/>
              <a:t>/local hiérarchie tertiaire locale</a:t>
            </a:r>
          </a:p>
          <a:p>
            <a:pPr lvl="1">
              <a:lnSpc>
                <a:spcPct val="90000"/>
              </a:lnSpc>
            </a:pPr>
            <a:r>
              <a:rPr lang="fr-FR" sz="1900" dirty="0"/>
              <a:t>/var fichiers variables divers des services</a:t>
            </a:r>
          </a:p>
          <a:p>
            <a:pPr lvl="1">
              <a:lnSpc>
                <a:spcPct val="90000"/>
              </a:lnSpc>
            </a:pPr>
            <a:r>
              <a:rPr lang="fr-FR" sz="1900" b="1" dirty="0"/>
              <a:t>/var/log fichiers de journalisation</a:t>
            </a:r>
          </a:p>
          <a:p>
            <a:pPr>
              <a:lnSpc>
                <a:spcPct val="90000"/>
              </a:lnSpc>
            </a:pPr>
            <a:r>
              <a:rPr lang="fr-FR" sz="2100" b="1" dirty="0"/>
              <a:t>Existe des variations entre les systèmes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863F75-A479-4DED-79B4-C9DBA2D69110}"/>
              </a:ext>
            </a:extLst>
          </p:cNvPr>
          <p:cNvSpPr txBox="1"/>
          <p:nvPr/>
        </p:nvSpPr>
        <p:spPr>
          <a:xfrm>
            <a:off x="7625186" y="6391656"/>
            <a:ext cx="4529525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CA" sz="1800" dirty="0"/>
              <a:t>Extrait des </a:t>
            </a:r>
            <a:r>
              <a:rPr lang="en-CA" sz="1800" dirty="0" err="1"/>
              <a:t>diapos</a:t>
            </a:r>
            <a:r>
              <a:rPr lang="en-CA" sz="1800" dirty="0"/>
              <a:t> du </a:t>
            </a:r>
            <a:r>
              <a:rPr lang="en-CA" sz="1800" dirty="0">
                <a:hlinkClick r:id="rId2"/>
              </a:rPr>
              <a:t>Ch3: </a:t>
            </a:r>
            <a:r>
              <a:rPr lang="en-CA" sz="1800" dirty="0" err="1">
                <a:hlinkClick r:id="rId2"/>
              </a:rPr>
              <a:t>Fichiers</a:t>
            </a:r>
            <a:r>
              <a:rPr lang="en-CA" sz="1800" dirty="0"/>
              <a:t> (p.8-9)</a:t>
            </a:r>
          </a:p>
        </p:txBody>
      </p:sp>
    </p:spTree>
    <p:extLst>
      <p:ext uri="{BB962C8B-B14F-4D97-AF65-F5344CB8AC3E}">
        <p14:creationId xmlns:p14="http://schemas.microsoft.com/office/powerpoint/2010/main" val="3744103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B0ACE-DF7D-9C71-8199-2FDB70D06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Quiz </a:t>
            </a:r>
            <a:r>
              <a:rPr lang="fr-CA" dirty="0" err="1"/>
              <a:t>Kahoot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53F94-88FA-4235-B218-2A7C0F228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>
                <a:hlinkClick r:id="rId2"/>
              </a:rPr>
              <a:t>https://create.kahoot.it/share/inf1070-lab-6-archive-compression-et-fhs/af780b98-3fc9-49eb-9f33-ef9731115098</a:t>
            </a:r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08840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2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0070C0"/>
      </a:hlink>
      <a:folHlink>
        <a:srgbClr val="704404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975FBC4-9D33-46BE-911D-419763BA9AF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294F055B-D391-44D3-A87A-BCD07BD5A31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6DBD101-FC0A-4B21-82B0-57CAA7AEEC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{5DD7A4F1-1C6A-46C4-BBD6-875F5A391D6E}tf56219246_win32</Template>
  <TotalTime>46</TotalTime>
  <Words>443</Words>
  <Application>Microsoft Office PowerPoint</Application>
  <PresentationFormat>Widescreen</PresentationFormat>
  <Paragraphs>59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Avenir Next LT Pro</vt:lpstr>
      <vt:lpstr>Avenir Next LT Pro Light</vt:lpstr>
      <vt:lpstr>Garamond</vt:lpstr>
      <vt:lpstr>SavonVTI</vt:lpstr>
      <vt:lpstr>INF1070 Lab 6</vt:lpstr>
      <vt:lpstr>Objectifs</vt:lpstr>
      <vt:lpstr>Création et manipulation d'archives tar</vt:lpstr>
      <vt:lpstr>Compression d'archives</vt:lpstr>
      <vt:lpstr>Hiérarchie FHS (Pt. 1) </vt:lpstr>
      <vt:lpstr>Hiérarchie FHS (Pt. 2) </vt:lpstr>
      <vt:lpstr>Quiz Kahoot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Fam</dc:creator>
  <cp:lastModifiedBy>George Fam</cp:lastModifiedBy>
  <cp:revision>1</cp:revision>
  <dcterms:created xsi:type="dcterms:W3CDTF">2025-02-18T13:23:39Z</dcterms:created>
  <dcterms:modified xsi:type="dcterms:W3CDTF">2025-02-18T14:10:23Z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